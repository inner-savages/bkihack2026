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notes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5E1F3180-906B-4856-922B-D4AAD2097834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C3F370-7C0A-4212-A0F7-985E8D9469F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25710A4-403D-4BE5-857F-21D0E94356B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C6530E5-4F7A-4820-9829-8EFC153AD6F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E4EB94C-2740-4BAA-9B68-4C223311169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E9EABF-31C4-4958-B0FB-D399396A631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A714127-55CA-4A0B-82F6-8A7AA71AC04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BB0C2D8-CD15-4D91-8263-9883A1DE897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373B3CF-29AD-4A28-9C88-800FF26DB7D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84C3152-DCC1-4C41-8983-B63D60883BA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6CC8A0-533B-47B4-A1D0-B45A2996EBC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530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github.com/Inner-Savages/BKIHack2026" TargetMode="External"/><Relationship Id="rId2" Type="http://schemas.openxmlformats.org/officeDocument/2006/relationships/hyperlink" Target="https://github.com/Inner-Savages/BKIHack2026" TargetMode="External"/><Relationship Id="rId3" Type="http://schemas.openxmlformats.org/officeDocument/2006/relationships/hyperlink" Target="https://mobywatel-bkihack.netlify.app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731520" y="914400"/>
            <a:ext cx="768060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ffffff"/>
                </a:solidFill>
                <a:latin typeface="Arial Black"/>
                <a:ea typeface="Arial Black"/>
              </a:rPr>
              <a:t>AgePass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731520" y="2926080"/>
            <a:ext cx="64004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8892a0"/>
                </a:solidFill>
                <a:latin typeface="Calibri"/>
                <a:ea typeface="Calibri"/>
              </a:rPr>
              <a:t>Jak udowodnić stronie internetowej, że masz 18+ lat,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8892a0"/>
                </a:solidFill>
                <a:latin typeface="Calibri"/>
                <a:ea typeface="Calibri"/>
              </a:rPr>
              <a:t>bez ujawniania kim jesteś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0" y="4434840"/>
            <a:ext cx="9143640" cy="712800"/>
          </a:xfrm>
          <a:prstGeom prst="rect">
            <a:avLst/>
          </a:prstGeom>
          <a:solidFill>
            <a:srgbClr val="2435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731520" y="4480560"/>
            <a:ext cx="7680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8892a0"/>
                </a:solidFill>
                <a:latin typeface="Calibri"/>
                <a:ea typeface="Calibri"/>
              </a:rPr>
              <a:t>BKIHack 2026  |  Inner Savages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8595360" y="914400"/>
            <a:ext cx="91080" cy="25599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" name="" descr=""/>
          <p:cNvPicPr/>
          <p:nvPr/>
        </p:nvPicPr>
        <p:blipFill>
          <a:blip r:embed="rId1"/>
          <a:stretch/>
        </p:blipFill>
        <p:spPr>
          <a:xfrm>
            <a:off x="4800600" y="311760"/>
            <a:ext cx="3200400" cy="1745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1"/>
          <p:cNvSpPr/>
          <p:nvPr/>
        </p:nvSpPr>
        <p:spPr>
          <a:xfrm>
            <a:off x="731520" y="274320"/>
            <a:ext cx="7680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a2744"/>
                </a:solidFill>
                <a:latin typeface="Arial Black"/>
                <a:ea typeface="Arial Black"/>
              </a:rPr>
              <a:t>Problem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Shape 2"/>
          <p:cNvSpPr/>
          <p:nvPr/>
        </p:nvSpPr>
        <p:spPr>
          <a:xfrm>
            <a:off x="731520" y="1097280"/>
            <a:ext cx="3840120" cy="3474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Shape 3"/>
          <p:cNvSpPr/>
          <p:nvPr/>
        </p:nvSpPr>
        <p:spPr>
          <a:xfrm>
            <a:off x="731520" y="1097280"/>
            <a:ext cx="72720" cy="347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4"/>
          <p:cNvSpPr/>
          <p:nvPr/>
        </p:nvSpPr>
        <p:spPr>
          <a:xfrm>
            <a:off x="1051560" y="1234440"/>
            <a:ext cx="338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a2744"/>
                </a:solidFill>
                <a:latin typeface="Calibri"/>
                <a:ea typeface="Calibri"/>
              </a:rPr>
              <a:t>Obecne rozwiązania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1051560" y="1783080"/>
            <a:ext cx="329148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4a5568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4a5568"/>
                </a:solidFill>
                <a:latin typeface="Calibri"/>
                <a:ea typeface="Calibri"/>
              </a:rPr>
              <a:t>Podawanie danych osobowych stronom 18+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4a5568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4a5568"/>
                </a:solidFill>
                <a:latin typeface="Calibri"/>
                <a:ea typeface="Calibri"/>
              </a:rPr>
              <a:t>Brak realnej weryfikacji (checkboxy)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4a5568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4a5568"/>
                </a:solidFill>
                <a:latin typeface="Calibri"/>
                <a:ea typeface="Calibri"/>
              </a:rPr>
              <a:t>Wymuszanie logowania przez e-PUAP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4a5568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4a5568"/>
                </a:solidFill>
                <a:latin typeface="Calibri"/>
                <a:ea typeface="Calibri"/>
              </a:rPr>
              <a:t>Ryzyko profilowania i inwigilacji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Shape 6"/>
          <p:cNvSpPr/>
          <p:nvPr/>
        </p:nvSpPr>
        <p:spPr>
          <a:xfrm>
            <a:off x="4937760" y="1097280"/>
            <a:ext cx="3657240" cy="3474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Shape 7"/>
          <p:cNvSpPr/>
          <p:nvPr/>
        </p:nvSpPr>
        <p:spPr>
          <a:xfrm>
            <a:off x="4937760" y="1097280"/>
            <a:ext cx="72720" cy="347436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8"/>
          <p:cNvSpPr/>
          <p:nvPr/>
        </p:nvSpPr>
        <p:spPr>
          <a:xfrm>
            <a:off x="5257800" y="123444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e7d32"/>
                </a:solidFill>
                <a:latin typeface="Calibri"/>
                <a:ea typeface="Calibri"/>
              </a:rPr>
              <a:t>Czego potrzebujemy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5257800" y="1783080"/>
            <a:ext cx="320004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4a5568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4a5568"/>
                </a:solidFill>
                <a:latin typeface="Calibri"/>
                <a:ea typeface="Calibri"/>
              </a:rPr>
              <a:t>Weryfikacja wieku BEZ ujawniania tożsamości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4a5568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4a5568"/>
                </a:solidFill>
                <a:latin typeface="Calibri"/>
                <a:ea typeface="Calibri"/>
              </a:rPr>
              <a:t>Brak możliwości śledzenia użytkownika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4a5568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4a5568"/>
                </a:solidFill>
                <a:latin typeface="Calibri"/>
                <a:ea typeface="Calibri"/>
              </a:rPr>
              <a:t>Prostota użycia (6-cyfrowy kod)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4a5568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4a5568"/>
                </a:solidFill>
                <a:latin typeface="Calibri"/>
                <a:ea typeface="Calibri"/>
              </a:rPr>
              <a:t>Odporność na zmowę podmiotów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1"/>
          <p:cNvSpPr/>
          <p:nvPr/>
        </p:nvSpPr>
        <p:spPr>
          <a:xfrm>
            <a:off x="731520" y="274320"/>
            <a:ext cx="7680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1a2744"/>
                </a:solidFill>
                <a:latin typeface="Arial Black"/>
                <a:ea typeface="Arial Black"/>
              </a:rPr>
              <a:t>Architektura trójstronna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Text 2"/>
          <p:cNvSpPr/>
          <p:nvPr/>
        </p:nvSpPr>
        <p:spPr>
          <a:xfrm>
            <a:off x="731520" y="868680"/>
            <a:ext cx="7680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8892a0"/>
                </a:solidFill>
                <a:latin typeface="Calibri"/>
                <a:ea typeface="Calibri"/>
              </a:rPr>
              <a:t>Trzy podmioty, z których żaden nie wie wszystkiego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Shape 3"/>
          <p:cNvSpPr/>
          <p:nvPr/>
        </p:nvSpPr>
        <p:spPr>
          <a:xfrm>
            <a:off x="457200" y="1417320"/>
            <a:ext cx="2559960" cy="32914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Shape 4"/>
          <p:cNvSpPr/>
          <p:nvPr/>
        </p:nvSpPr>
        <p:spPr>
          <a:xfrm>
            <a:off x="457200" y="1417320"/>
            <a:ext cx="2559960" cy="59400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5"/>
          <p:cNvSpPr/>
          <p:nvPr/>
        </p:nvSpPr>
        <p:spPr>
          <a:xfrm>
            <a:off x="457200" y="1417320"/>
            <a:ext cx="25599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Rząd 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xt 6"/>
          <p:cNvSpPr/>
          <p:nvPr/>
        </p:nvSpPr>
        <p:spPr>
          <a:xfrm>
            <a:off x="457200" y="176472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mObywatel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Text 7"/>
          <p:cNvSpPr/>
          <p:nvPr/>
        </p:nvSpPr>
        <p:spPr>
          <a:xfrm>
            <a:off x="640080" y="2148840"/>
            <a:ext cx="2194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e7d32"/>
                </a:solidFill>
                <a:latin typeface="Calibri"/>
                <a:ea typeface="Calibri"/>
              </a:rPr>
              <a:t>WIE: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8"/>
          <p:cNvSpPr/>
          <p:nvPr/>
        </p:nvSpPr>
        <p:spPr>
          <a:xfrm>
            <a:off x="640080" y="2377440"/>
            <a:ext cx="2194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Kim jesteś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i ile masz lat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Text 9"/>
          <p:cNvSpPr/>
          <p:nvPr/>
        </p:nvSpPr>
        <p:spPr>
          <a:xfrm>
            <a:off x="640080" y="3200400"/>
            <a:ext cx="2194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c41e3a"/>
                </a:solidFill>
                <a:latin typeface="Calibri"/>
                <a:ea typeface="Calibri"/>
              </a:rPr>
              <a:t>NIE WIE: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Text 10"/>
          <p:cNvSpPr/>
          <p:nvPr/>
        </p:nvSpPr>
        <p:spPr>
          <a:xfrm>
            <a:off x="640080" y="3429000"/>
            <a:ext cx="2194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Jakiego kodu użyjesz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ani na jakiej stronie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Shape 11"/>
          <p:cNvSpPr/>
          <p:nvPr/>
        </p:nvSpPr>
        <p:spPr>
          <a:xfrm>
            <a:off x="3291840" y="1417320"/>
            <a:ext cx="2559960" cy="32914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12"/>
          <p:cNvSpPr/>
          <p:nvPr/>
        </p:nvSpPr>
        <p:spPr>
          <a:xfrm>
            <a:off x="3291840" y="1417320"/>
            <a:ext cx="2559960" cy="594000"/>
          </a:xfrm>
          <a:prstGeom prst="rect">
            <a:avLst/>
          </a:prstGeom>
          <a:solidFill>
            <a:srgbClr val="2968a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 13"/>
          <p:cNvSpPr/>
          <p:nvPr/>
        </p:nvSpPr>
        <p:spPr>
          <a:xfrm>
            <a:off x="3291840" y="1417320"/>
            <a:ext cx="25599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Rząd B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 14"/>
          <p:cNvSpPr/>
          <p:nvPr/>
        </p:nvSpPr>
        <p:spPr>
          <a:xfrm>
            <a:off x="3291840" y="176472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NASK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15"/>
          <p:cNvSpPr/>
          <p:nvPr/>
        </p:nvSpPr>
        <p:spPr>
          <a:xfrm>
            <a:off x="3474720" y="2148840"/>
            <a:ext cx="2194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e7d32"/>
                </a:solidFill>
                <a:latin typeface="Calibri"/>
                <a:ea typeface="Calibri"/>
              </a:rPr>
              <a:t>WIE: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16"/>
          <p:cNvSpPr/>
          <p:nvPr/>
        </p:nvSpPr>
        <p:spPr>
          <a:xfrm>
            <a:off x="3474720" y="2377440"/>
            <a:ext cx="2194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ktoś anonimowy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ma 18+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17"/>
          <p:cNvSpPr/>
          <p:nvPr/>
        </p:nvSpPr>
        <p:spPr>
          <a:xfrm>
            <a:off x="3474720" y="3200400"/>
            <a:ext cx="2194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c41e3a"/>
                </a:solidFill>
                <a:latin typeface="Calibri"/>
                <a:ea typeface="Calibri"/>
              </a:rPr>
              <a:t>NIE WIE: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18"/>
          <p:cNvSpPr/>
          <p:nvPr/>
        </p:nvSpPr>
        <p:spPr>
          <a:xfrm>
            <a:off x="3474720" y="3429000"/>
            <a:ext cx="2194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Kim jest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ta osoba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Shape 19"/>
          <p:cNvSpPr/>
          <p:nvPr/>
        </p:nvSpPr>
        <p:spPr>
          <a:xfrm>
            <a:off x="6126480" y="1417320"/>
            <a:ext cx="2559960" cy="32914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20"/>
          <p:cNvSpPr/>
          <p:nvPr/>
        </p:nvSpPr>
        <p:spPr>
          <a:xfrm>
            <a:off x="6126480" y="1417320"/>
            <a:ext cx="2559960" cy="594000"/>
          </a:xfrm>
          <a:prstGeom prst="rect">
            <a:avLst/>
          </a:prstGeom>
          <a:solidFill>
            <a:srgbClr val="4a556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21"/>
          <p:cNvSpPr/>
          <p:nvPr/>
        </p:nvSpPr>
        <p:spPr>
          <a:xfrm>
            <a:off x="6126480" y="1417320"/>
            <a:ext cx="25599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Strona 18+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 22"/>
          <p:cNvSpPr/>
          <p:nvPr/>
        </p:nvSpPr>
        <p:spPr>
          <a:xfrm>
            <a:off x="6126480" y="176472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ccccc"/>
                </a:solidFill>
                <a:latin typeface="Calibri"/>
                <a:ea typeface="Calibri"/>
              </a:rPr>
              <a:t>Odbiorca kodu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23"/>
          <p:cNvSpPr/>
          <p:nvPr/>
        </p:nvSpPr>
        <p:spPr>
          <a:xfrm>
            <a:off x="6309360" y="2148840"/>
            <a:ext cx="2194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e7d32"/>
                </a:solidFill>
                <a:latin typeface="Calibri"/>
                <a:ea typeface="Calibri"/>
              </a:rPr>
              <a:t>WIE: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24"/>
          <p:cNvSpPr/>
          <p:nvPr/>
        </p:nvSpPr>
        <p:spPr>
          <a:xfrm>
            <a:off x="6309360" y="2377440"/>
            <a:ext cx="2194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wpisany kod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jest ważny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25"/>
          <p:cNvSpPr/>
          <p:nvPr/>
        </p:nvSpPr>
        <p:spPr>
          <a:xfrm>
            <a:off x="6309360" y="3200400"/>
            <a:ext cx="2194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c41e3a"/>
                </a:solidFill>
                <a:latin typeface="Calibri"/>
                <a:ea typeface="Calibri"/>
              </a:rPr>
              <a:t>NIE WIE: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26"/>
          <p:cNvSpPr/>
          <p:nvPr/>
        </p:nvSpPr>
        <p:spPr>
          <a:xfrm>
            <a:off x="6309360" y="3429000"/>
            <a:ext cx="2194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Kim jest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użytkownik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731520" y="228600"/>
            <a:ext cx="7680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Arial Black"/>
                <a:ea typeface="Arial Black"/>
              </a:rPr>
              <a:t>Jak to działa? 3 proste kroki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Shape 2"/>
          <p:cNvSpPr/>
          <p:nvPr/>
        </p:nvSpPr>
        <p:spPr>
          <a:xfrm>
            <a:off x="731520" y="1051560"/>
            <a:ext cx="7680600" cy="1096920"/>
          </a:xfrm>
          <a:prstGeom prst="rect">
            <a:avLst/>
          </a:prstGeom>
          <a:solidFill>
            <a:srgbClr val="243556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Shape 3"/>
          <p:cNvSpPr/>
          <p:nvPr/>
        </p:nvSpPr>
        <p:spPr>
          <a:xfrm>
            <a:off x="960120" y="1252800"/>
            <a:ext cx="685440" cy="685440"/>
          </a:xfrm>
          <a:prstGeom prst="ellipse">
            <a:avLst/>
          </a:prstGeom>
          <a:solidFill>
            <a:srgbClr val="c41e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960120" y="12528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800" spc="-1" strike="noStrike">
                <a:solidFill>
                  <a:srgbClr val="ffffff"/>
                </a:solidFill>
                <a:latin typeface="Arial Black"/>
                <a:ea typeface="Arial Black"/>
              </a:rPr>
              <a:t>1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1920240" y="1143000"/>
            <a:ext cx="6217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Weryfikacja wieku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1920240" y="1508760"/>
            <a:ext cx="6217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8892a0"/>
                </a:solidFill>
                <a:latin typeface="Calibri"/>
                <a:ea typeface="Calibri"/>
              </a:rPr>
              <a:t>Otwierasz mObywatel. Twój telefon generuje losowy token i chowa go w kryptograficznej kopercie. Rząd A sprawdza Twój wiek i podpisuje kopertę — nie widząc co jest w środku.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Shape 7"/>
          <p:cNvSpPr/>
          <p:nvPr/>
        </p:nvSpPr>
        <p:spPr>
          <a:xfrm>
            <a:off x="731520" y="2331720"/>
            <a:ext cx="7680600" cy="1096920"/>
          </a:xfrm>
          <a:prstGeom prst="rect">
            <a:avLst/>
          </a:prstGeom>
          <a:solidFill>
            <a:srgbClr val="243556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Shape 8"/>
          <p:cNvSpPr/>
          <p:nvPr/>
        </p:nvSpPr>
        <p:spPr>
          <a:xfrm>
            <a:off x="960120" y="2532960"/>
            <a:ext cx="685440" cy="685440"/>
          </a:xfrm>
          <a:prstGeom prst="ellipse">
            <a:avLst/>
          </a:prstGeom>
          <a:solidFill>
            <a:srgbClr val="2968a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 9"/>
          <p:cNvSpPr/>
          <p:nvPr/>
        </p:nvSpPr>
        <p:spPr>
          <a:xfrm>
            <a:off x="960120" y="253296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800" spc="-1" strike="noStrike">
                <a:solidFill>
                  <a:srgbClr val="ffffff"/>
                </a:solidFill>
                <a:latin typeface="Arial Black"/>
                <a:ea typeface="Arial Black"/>
              </a:rPr>
              <a:t>2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 10"/>
          <p:cNvSpPr/>
          <p:nvPr/>
        </p:nvSpPr>
        <p:spPr>
          <a:xfrm>
            <a:off x="1920240" y="2423160"/>
            <a:ext cx="6217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Pobranie kodu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Text 11"/>
          <p:cNvSpPr/>
          <p:nvPr/>
        </p:nvSpPr>
        <p:spPr>
          <a:xfrm>
            <a:off x="1920240" y="2788920"/>
            <a:ext cx="6217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8892a0"/>
                </a:solidFill>
                <a:latin typeface="Calibri"/>
                <a:ea typeface="Calibri"/>
              </a:rPr>
              <a:t>Wysyłasz podpisany token (bez PESELu!) do Rządu B. NASK weryfikuje podpis, generuje jednorazowy 6-cyfrowy kod ważny 5 minut. Nie wie kim jesteś.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Shape 12"/>
          <p:cNvSpPr/>
          <p:nvPr/>
        </p:nvSpPr>
        <p:spPr>
          <a:xfrm>
            <a:off x="731520" y="3611880"/>
            <a:ext cx="7680600" cy="1096920"/>
          </a:xfrm>
          <a:prstGeom prst="rect">
            <a:avLst/>
          </a:prstGeom>
          <a:solidFill>
            <a:srgbClr val="243556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Shape 13"/>
          <p:cNvSpPr/>
          <p:nvPr/>
        </p:nvSpPr>
        <p:spPr>
          <a:xfrm>
            <a:off x="960120" y="3813120"/>
            <a:ext cx="685440" cy="685440"/>
          </a:xfrm>
          <a:prstGeom prst="ellipse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 14"/>
          <p:cNvSpPr/>
          <p:nvPr/>
        </p:nvSpPr>
        <p:spPr>
          <a:xfrm>
            <a:off x="960120" y="381312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800" spc="-1" strike="noStrike">
                <a:solidFill>
                  <a:srgbClr val="ffffff"/>
                </a:solidFill>
                <a:latin typeface="Arial Black"/>
                <a:ea typeface="Arial Black"/>
              </a:rPr>
              <a:t>3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15"/>
          <p:cNvSpPr/>
          <p:nvPr/>
        </p:nvSpPr>
        <p:spPr>
          <a:xfrm>
            <a:off x="1920240" y="3703320"/>
            <a:ext cx="6217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Wejście na stronę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 16"/>
          <p:cNvSpPr/>
          <p:nvPr/>
        </p:nvSpPr>
        <p:spPr>
          <a:xfrm>
            <a:off x="1920240" y="4069080"/>
            <a:ext cx="6217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8892a0"/>
                </a:solidFill>
                <a:latin typeface="Calibri"/>
                <a:ea typeface="Calibri"/>
              </a:rPr>
              <a:t>Wpisujesz kod na stronie 18+. Strona pyta Rząd B: ważny? Odpowiedź: TAK. Kod spalony. Strona nie zna Twojej tożsamości.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 1"/>
          <p:cNvSpPr/>
          <p:nvPr/>
        </p:nvSpPr>
        <p:spPr>
          <a:xfrm>
            <a:off x="731520" y="274320"/>
            <a:ext cx="7680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1a2744"/>
                </a:solidFill>
                <a:latin typeface="Arial Black"/>
                <a:ea typeface="Arial Black"/>
              </a:rPr>
              <a:t>Analogia z koperta i kalka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2"/>
          <p:cNvSpPr/>
          <p:nvPr/>
        </p:nvSpPr>
        <p:spPr>
          <a:xfrm>
            <a:off x="731520" y="1097280"/>
            <a:ext cx="7680600" cy="3474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3"/>
          <p:cNvSpPr/>
          <p:nvPr/>
        </p:nvSpPr>
        <p:spPr>
          <a:xfrm>
            <a:off x="731520" y="1097280"/>
            <a:ext cx="91080" cy="3474360"/>
          </a:xfrm>
          <a:prstGeom prst="rect">
            <a:avLst/>
          </a:prstGeom>
          <a:solidFill>
            <a:srgbClr val="f9a8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4"/>
          <p:cNvSpPr/>
          <p:nvPr/>
        </p:nvSpPr>
        <p:spPr>
          <a:xfrm>
            <a:off x="1097280" y="1325880"/>
            <a:ext cx="365400" cy="365400"/>
          </a:xfrm>
          <a:prstGeom prst="ellipse">
            <a:avLst/>
          </a:prstGeom>
          <a:solidFill>
            <a:srgbClr val="1a27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 5"/>
          <p:cNvSpPr/>
          <p:nvPr/>
        </p:nvSpPr>
        <p:spPr>
          <a:xfrm>
            <a:off x="1097280" y="13258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6"/>
          <p:cNvSpPr/>
          <p:nvPr/>
        </p:nvSpPr>
        <p:spPr>
          <a:xfrm>
            <a:off x="1645920" y="1325880"/>
            <a:ext cx="6491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5568"/>
                </a:solidFill>
                <a:latin typeface="Calibri"/>
                <a:ea typeface="Calibri"/>
              </a:rPr>
              <a:t>Piszesz tajny numer na kartce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7"/>
          <p:cNvSpPr/>
          <p:nvPr/>
        </p:nvSpPr>
        <p:spPr>
          <a:xfrm>
            <a:off x="1097280" y="1947600"/>
            <a:ext cx="365400" cy="365400"/>
          </a:xfrm>
          <a:prstGeom prst="ellipse">
            <a:avLst/>
          </a:prstGeom>
          <a:solidFill>
            <a:srgbClr val="1a27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8"/>
          <p:cNvSpPr/>
          <p:nvPr/>
        </p:nvSpPr>
        <p:spPr>
          <a:xfrm>
            <a:off x="1097280" y="19476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9"/>
          <p:cNvSpPr/>
          <p:nvPr/>
        </p:nvSpPr>
        <p:spPr>
          <a:xfrm>
            <a:off x="1645920" y="1947600"/>
            <a:ext cx="6491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4a5568"/>
                </a:solidFill>
                <a:latin typeface="Calibri"/>
                <a:ea typeface="Calibri"/>
              </a:rPr>
              <a:t>Wkładasz kartkę do nieprzezroczystej koperty z kalką w środku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10"/>
          <p:cNvSpPr/>
          <p:nvPr/>
        </p:nvSpPr>
        <p:spPr>
          <a:xfrm>
            <a:off x="1097280" y="2569320"/>
            <a:ext cx="365400" cy="365400"/>
          </a:xfrm>
          <a:prstGeom prst="ellipse">
            <a:avLst/>
          </a:prstGeom>
          <a:solidFill>
            <a:srgbClr val="1a27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11"/>
          <p:cNvSpPr/>
          <p:nvPr/>
        </p:nvSpPr>
        <p:spPr>
          <a:xfrm>
            <a:off x="1097280" y="2569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12"/>
          <p:cNvSpPr/>
          <p:nvPr/>
        </p:nvSpPr>
        <p:spPr>
          <a:xfrm>
            <a:off x="1645920" y="2569320"/>
            <a:ext cx="6491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41e3a"/>
                </a:solidFill>
                <a:latin typeface="Calibri"/>
                <a:ea typeface="Calibri"/>
              </a:rPr>
              <a:t>Urzędnik (Rząd A) sprawdza Twój dowód, podpisuje kopertę — podpis przechodzi przez kalkę na kartkę, ale urzędnik nie widzi co jest w środku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13"/>
          <p:cNvSpPr/>
          <p:nvPr/>
        </p:nvSpPr>
        <p:spPr>
          <a:xfrm>
            <a:off x="1097280" y="3191400"/>
            <a:ext cx="365400" cy="365400"/>
          </a:xfrm>
          <a:prstGeom prst="ellipse">
            <a:avLst/>
          </a:prstGeom>
          <a:solidFill>
            <a:srgbClr val="1a27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14"/>
          <p:cNvSpPr/>
          <p:nvPr/>
        </p:nvSpPr>
        <p:spPr>
          <a:xfrm>
            <a:off x="1097280" y="31914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15"/>
          <p:cNvSpPr/>
          <p:nvPr/>
        </p:nvSpPr>
        <p:spPr>
          <a:xfrm>
            <a:off x="1645920" y="3191400"/>
            <a:ext cx="6491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e7d32"/>
                </a:solidFill>
                <a:latin typeface="Calibri"/>
                <a:ea typeface="Calibri"/>
              </a:rPr>
              <a:t>Otwierasz kopertę — masz kartkę z Twoim numerem i podpisem urzędnika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16"/>
          <p:cNvSpPr/>
          <p:nvPr/>
        </p:nvSpPr>
        <p:spPr>
          <a:xfrm>
            <a:off x="1097280" y="3813120"/>
            <a:ext cx="365400" cy="365400"/>
          </a:xfrm>
          <a:prstGeom prst="ellipse">
            <a:avLst/>
          </a:prstGeom>
          <a:solidFill>
            <a:srgbClr val="1a27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 17"/>
          <p:cNvSpPr/>
          <p:nvPr/>
        </p:nvSpPr>
        <p:spPr>
          <a:xfrm>
            <a:off x="1097280" y="38131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 18"/>
          <p:cNvSpPr/>
          <p:nvPr/>
        </p:nvSpPr>
        <p:spPr>
          <a:xfrm>
            <a:off x="1645920" y="3813120"/>
            <a:ext cx="6491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968a8"/>
                </a:solidFill>
                <a:latin typeface="Calibri"/>
                <a:ea typeface="Calibri"/>
              </a:rPr>
              <a:t>Idziesz do drugiego okienka (Rząd B), pokazujesz kartkę. Drugie okienko widzi ważny podpis, wydaje kod — ale nie wie kto stał w pierwszym okienku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 1"/>
          <p:cNvSpPr/>
          <p:nvPr/>
        </p:nvSpPr>
        <p:spPr>
          <a:xfrm>
            <a:off x="731520" y="228600"/>
            <a:ext cx="7680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a2744"/>
                </a:solidFill>
                <a:latin typeface="Arial Black"/>
                <a:ea typeface="Arial Black"/>
              </a:rPr>
              <a:t>4 warstwy ochrony prywatności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2"/>
          <p:cNvSpPr/>
          <p:nvPr/>
        </p:nvSpPr>
        <p:spPr>
          <a:xfrm>
            <a:off x="731520" y="777240"/>
            <a:ext cx="7680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8892a0"/>
                </a:solidFill>
                <a:latin typeface="Calibri"/>
                <a:ea typeface="Calibri"/>
              </a:rPr>
              <a:t>Nawet jeśli jedno zabezpieczenie zawiedzie, pozostałe trzymają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3"/>
          <p:cNvSpPr/>
          <p:nvPr/>
        </p:nvSpPr>
        <p:spPr>
          <a:xfrm>
            <a:off x="731520" y="1234440"/>
            <a:ext cx="7680600" cy="7768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Shape 4"/>
          <p:cNvSpPr/>
          <p:nvPr/>
        </p:nvSpPr>
        <p:spPr>
          <a:xfrm>
            <a:off x="731520" y="1234440"/>
            <a:ext cx="72720" cy="776880"/>
          </a:xfrm>
          <a:prstGeom prst="rect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Shape 5"/>
          <p:cNvSpPr/>
          <p:nvPr/>
        </p:nvSpPr>
        <p:spPr>
          <a:xfrm>
            <a:off x="1005840" y="1389960"/>
            <a:ext cx="456840" cy="456840"/>
          </a:xfrm>
          <a:prstGeom prst="ellipse">
            <a:avLst/>
          </a:prstGeom>
          <a:solidFill>
            <a:srgbClr val="e8f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 6"/>
          <p:cNvSpPr/>
          <p:nvPr/>
        </p:nvSpPr>
        <p:spPr>
          <a:xfrm>
            <a:off x="1005840" y="13899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e7d32"/>
                </a:solidFill>
                <a:latin typeface="Calibri"/>
                <a:ea typeface="Calibri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7"/>
          <p:cNvSpPr/>
          <p:nvPr/>
        </p:nvSpPr>
        <p:spPr>
          <a:xfrm>
            <a:off x="1645920" y="130752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a2744"/>
                </a:solidFill>
                <a:latin typeface="Calibri"/>
                <a:ea typeface="Calibri"/>
              </a:rPr>
              <a:t>Separacja prawna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8"/>
          <p:cNvSpPr/>
          <p:nvPr/>
        </p:nvSpPr>
        <p:spPr>
          <a:xfrm>
            <a:off x="1645920" y="161856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5568"/>
                </a:solidFill>
                <a:latin typeface="Calibri"/>
                <a:ea typeface="Calibri"/>
              </a:rPr>
              <a:t>Dwa resorty + ustawowy zakaz wymiany danych. Zmowa = przestępstwo.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9"/>
          <p:cNvSpPr/>
          <p:nvPr/>
        </p:nvSpPr>
        <p:spPr>
          <a:xfrm>
            <a:off x="6766560" y="1463040"/>
            <a:ext cx="1462680" cy="319680"/>
          </a:xfrm>
          <a:prstGeom prst="rect">
            <a:avLst/>
          </a:prstGeom>
          <a:solidFill>
            <a:srgbClr val="e8f5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10"/>
          <p:cNvSpPr/>
          <p:nvPr/>
        </p:nvSpPr>
        <p:spPr>
          <a:xfrm>
            <a:off x="6766560" y="1463040"/>
            <a:ext cx="1462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  <a:ea typeface="Calibri"/>
              </a:rPr>
              <a:t>PRAWNA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11"/>
          <p:cNvSpPr/>
          <p:nvPr/>
        </p:nvSpPr>
        <p:spPr>
          <a:xfrm>
            <a:off x="731520" y="2148840"/>
            <a:ext cx="7680600" cy="7768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12"/>
          <p:cNvSpPr/>
          <p:nvPr/>
        </p:nvSpPr>
        <p:spPr>
          <a:xfrm>
            <a:off x="731520" y="2148840"/>
            <a:ext cx="72720" cy="776880"/>
          </a:xfrm>
          <a:prstGeom prst="rect">
            <a:avLst/>
          </a:prstGeom>
          <a:solidFill>
            <a:srgbClr val="2968a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Shape 13"/>
          <p:cNvSpPr/>
          <p:nvPr/>
        </p:nvSpPr>
        <p:spPr>
          <a:xfrm>
            <a:off x="1005840" y="2304360"/>
            <a:ext cx="456840" cy="456840"/>
          </a:xfrm>
          <a:prstGeom prst="ellipse">
            <a:avLst/>
          </a:prstGeom>
          <a:solidFill>
            <a:srgbClr val="e3f2f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14"/>
          <p:cNvSpPr/>
          <p:nvPr/>
        </p:nvSpPr>
        <p:spPr>
          <a:xfrm>
            <a:off x="1005840" y="23043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968a8"/>
                </a:solidFill>
                <a:latin typeface="Calibri"/>
                <a:ea typeface="Calibri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15"/>
          <p:cNvSpPr/>
          <p:nvPr/>
        </p:nvSpPr>
        <p:spPr>
          <a:xfrm>
            <a:off x="1645920" y="222192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a2744"/>
                </a:solidFill>
                <a:latin typeface="Calibri"/>
                <a:ea typeface="Calibri"/>
              </a:rPr>
              <a:t>Ślepe podpisy RSA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16"/>
          <p:cNvSpPr/>
          <p:nvPr/>
        </p:nvSpPr>
        <p:spPr>
          <a:xfrm>
            <a:off x="1645920" y="253296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5568"/>
                </a:solidFill>
                <a:latin typeface="Calibri"/>
                <a:ea typeface="Calibri"/>
              </a:rPr>
              <a:t>Zaślepiony token =/= odślepiony token. Matematycznie niepowiązalne.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17"/>
          <p:cNvSpPr/>
          <p:nvPr/>
        </p:nvSpPr>
        <p:spPr>
          <a:xfrm>
            <a:off x="6766560" y="2377440"/>
            <a:ext cx="1462680" cy="319680"/>
          </a:xfrm>
          <a:prstGeom prst="rect">
            <a:avLst/>
          </a:prstGeom>
          <a:solidFill>
            <a:srgbClr val="e3f2f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18"/>
          <p:cNvSpPr/>
          <p:nvPr/>
        </p:nvSpPr>
        <p:spPr>
          <a:xfrm>
            <a:off x="6766560" y="2377440"/>
            <a:ext cx="1462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2968a8"/>
                </a:solidFill>
                <a:latin typeface="Calibri"/>
                <a:ea typeface="Calibri"/>
              </a:rPr>
              <a:t>MATEMATYCZNA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19"/>
          <p:cNvSpPr/>
          <p:nvPr/>
        </p:nvSpPr>
        <p:spPr>
          <a:xfrm>
            <a:off x="731520" y="3063240"/>
            <a:ext cx="7680600" cy="7768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20"/>
          <p:cNvSpPr/>
          <p:nvPr/>
        </p:nvSpPr>
        <p:spPr>
          <a:xfrm>
            <a:off x="731520" y="3063240"/>
            <a:ext cx="72720" cy="776880"/>
          </a:xfrm>
          <a:prstGeom prst="rect">
            <a:avLst/>
          </a:prstGeom>
          <a:solidFill>
            <a:srgbClr val="2968a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Shape 21"/>
          <p:cNvSpPr/>
          <p:nvPr/>
        </p:nvSpPr>
        <p:spPr>
          <a:xfrm>
            <a:off x="1005840" y="3218760"/>
            <a:ext cx="456840" cy="456840"/>
          </a:xfrm>
          <a:prstGeom prst="ellipse">
            <a:avLst/>
          </a:prstGeom>
          <a:solidFill>
            <a:srgbClr val="fff8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22"/>
          <p:cNvSpPr/>
          <p:nvPr/>
        </p:nvSpPr>
        <p:spPr>
          <a:xfrm>
            <a:off x="1005840" y="32187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968a8"/>
                </a:solidFill>
                <a:latin typeface="Calibri"/>
                <a:ea typeface="Calibri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23"/>
          <p:cNvSpPr/>
          <p:nvPr/>
        </p:nvSpPr>
        <p:spPr>
          <a:xfrm>
            <a:off x="1645920" y="313632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a2744"/>
                </a:solidFill>
                <a:latin typeface="Calibri"/>
                <a:ea typeface="Calibri"/>
              </a:rPr>
              <a:t>OPRF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24"/>
          <p:cNvSpPr/>
          <p:nvPr/>
        </p:nvSpPr>
        <p:spPr>
          <a:xfrm>
            <a:off x="1645920" y="344736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5568"/>
                </a:solidFill>
                <a:latin typeface="Calibri"/>
                <a:ea typeface="Calibri"/>
              </a:rPr>
              <a:t>Serwer przetwarza dane, ktorych nigdy nie widział. Nawet logi sa bezużyteczne.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25"/>
          <p:cNvSpPr/>
          <p:nvPr/>
        </p:nvSpPr>
        <p:spPr>
          <a:xfrm>
            <a:off x="6766560" y="3291840"/>
            <a:ext cx="1462680" cy="319680"/>
          </a:xfrm>
          <a:prstGeom prst="rect">
            <a:avLst/>
          </a:prstGeom>
          <a:solidFill>
            <a:srgbClr val="fff8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26"/>
          <p:cNvSpPr/>
          <p:nvPr/>
        </p:nvSpPr>
        <p:spPr>
          <a:xfrm>
            <a:off x="6766560" y="3291840"/>
            <a:ext cx="1462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2968a8"/>
                </a:solidFill>
                <a:latin typeface="Calibri"/>
                <a:ea typeface="Calibri"/>
              </a:rPr>
              <a:t>MATEMATYCZNA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27"/>
          <p:cNvSpPr/>
          <p:nvPr/>
        </p:nvSpPr>
        <p:spPr>
          <a:xfrm>
            <a:off x="731520" y="3977640"/>
            <a:ext cx="7680600" cy="7768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28"/>
          <p:cNvSpPr/>
          <p:nvPr/>
        </p:nvSpPr>
        <p:spPr>
          <a:xfrm>
            <a:off x="731520" y="3977640"/>
            <a:ext cx="72720" cy="77688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Shape 29"/>
          <p:cNvSpPr/>
          <p:nvPr/>
        </p:nvSpPr>
        <p:spPr>
          <a:xfrm>
            <a:off x="1005840" y="4133160"/>
            <a:ext cx="456840" cy="456840"/>
          </a:xfrm>
          <a:prstGeom prst="ellipse">
            <a:avLst/>
          </a:prstGeom>
          <a:solidFill>
            <a:srgbClr val="fce4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30"/>
          <p:cNvSpPr/>
          <p:nvPr/>
        </p:nvSpPr>
        <p:spPr>
          <a:xfrm>
            <a:off x="1005840" y="41331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41e3a"/>
                </a:solidFill>
                <a:latin typeface="Calibri"/>
                <a:ea typeface="Calibri"/>
              </a:rPr>
              <a:t>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31"/>
          <p:cNvSpPr/>
          <p:nvPr/>
        </p:nvSpPr>
        <p:spPr>
          <a:xfrm>
            <a:off x="1645920" y="405072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a2744"/>
                </a:solidFill>
                <a:latin typeface="Calibri"/>
                <a:ea typeface="Calibri"/>
              </a:rPr>
              <a:t>Enklawy TEE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32"/>
          <p:cNvSpPr/>
          <p:nvPr/>
        </p:nvSpPr>
        <p:spPr>
          <a:xfrm>
            <a:off x="1645920" y="436176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4a5568"/>
                </a:solidFill>
                <a:latin typeface="Calibri"/>
                <a:ea typeface="Calibri"/>
              </a:rPr>
              <a:t>Intel SGX / ARM TrustZone. Kod open-source. Nawet admin serwera nie widzi danych.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33"/>
          <p:cNvSpPr/>
          <p:nvPr/>
        </p:nvSpPr>
        <p:spPr>
          <a:xfrm>
            <a:off x="6766560" y="4206240"/>
            <a:ext cx="1462680" cy="319680"/>
          </a:xfrm>
          <a:prstGeom prst="rect">
            <a:avLst/>
          </a:prstGeom>
          <a:solidFill>
            <a:srgbClr val="fce4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34"/>
          <p:cNvSpPr/>
          <p:nvPr/>
        </p:nvSpPr>
        <p:spPr>
          <a:xfrm>
            <a:off x="6766560" y="4206240"/>
            <a:ext cx="1462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c41e3a"/>
                </a:solidFill>
                <a:latin typeface="Calibri"/>
                <a:ea typeface="Calibri"/>
              </a:rPr>
              <a:t>SPRZĘTOWA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 1"/>
          <p:cNvSpPr/>
          <p:nvPr/>
        </p:nvSpPr>
        <p:spPr>
          <a:xfrm>
            <a:off x="731520" y="274320"/>
            <a:ext cx="7680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Arial Black"/>
                <a:ea typeface="Arial Black"/>
              </a:rPr>
              <a:t>Co jesli Rząd A i B zmowią się?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Shape 2"/>
          <p:cNvSpPr/>
          <p:nvPr/>
        </p:nvSpPr>
        <p:spPr>
          <a:xfrm>
            <a:off x="731520" y="1188720"/>
            <a:ext cx="3657240" cy="1828440"/>
          </a:xfrm>
          <a:prstGeom prst="rect">
            <a:avLst/>
          </a:prstGeom>
          <a:solidFill>
            <a:srgbClr val="243556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Shape 3"/>
          <p:cNvSpPr/>
          <p:nvPr/>
        </p:nvSpPr>
        <p:spPr>
          <a:xfrm>
            <a:off x="731520" y="1188720"/>
            <a:ext cx="3657240" cy="45684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4"/>
          <p:cNvSpPr/>
          <p:nvPr/>
        </p:nvSpPr>
        <p:spPr>
          <a:xfrm>
            <a:off x="731520" y="1188720"/>
            <a:ext cx="3657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Rząd A ma: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 5"/>
          <p:cNvSpPr/>
          <p:nvPr/>
        </p:nvSpPr>
        <p:spPr>
          <a:xfrm>
            <a:off x="914400" y="1783080"/>
            <a:ext cx="32914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8892a0"/>
                </a:solidFill>
                <a:latin typeface="Calibri"/>
                <a:ea typeface="Calibri"/>
              </a:rPr>
              <a:t>PESEL + zaślepiony token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8892a0"/>
                </a:solidFill>
                <a:latin typeface="Calibri"/>
                <a:ea typeface="Calibri"/>
              </a:rPr>
              <a:t>(losowy szum)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Shape 6"/>
          <p:cNvSpPr/>
          <p:nvPr/>
        </p:nvSpPr>
        <p:spPr>
          <a:xfrm>
            <a:off x="4754880" y="1188720"/>
            <a:ext cx="3657240" cy="1828440"/>
          </a:xfrm>
          <a:prstGeom prst="rect">
            <a:avLst/>
          </a:prstGeom>
          <a:solidFill>
            <a:srgbClr val="243556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Shape 7"/>
          <p:cNvSpPr/>
          <p:nvPr/>
        </p:nvSpPr>
        <p:spPr>
          <a:xfrm>
            <a:off x="4754880" y="1188720"/>
            <a:ext cx="3657240" cy="456840"/>
          </a:xfrm>
          <a:prstGeom prst="rect">
            <a:avLst/>
          </a:prstGeom>
          <a:solidFill>
            <a:srgbClr val="2968a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 8"/>
          <p:cNvSpPr/>
          <p:nvPr/>
        </p:nvSpPr>
        <p:spPr>
          <a:xfrm>
            <a:off x="4754880" y="1188720"/>
            <a:ext cx="3657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Rząd B ma: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 9"/>
          <p:cNvSpPr/>
          <p:nvPr/>
        </p:nvSpPr>
        <p:spPr>
          <a:xfrm>
            <a:off x="4937760" y="1783080"/>
            <a:ext cx="32914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8892a0"/>
                </a:solidFill>
                <a:latin typeface="Calibri"/>
                <a:ea typeface="Calibri"/>
              </a:rPr>
              <a:t>Odślepiony token + kod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8892a0"/>
                </a:solidFill>
                <a:latin typeface="Calibri"/>
                <a:ea typeface="Calibri"/>
              </a:rPr>
              <a:t>(bez tożsamości)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Shape 10"/>
          <p:cNvSpPr/>
          <p:nvPr/>
        </p:nvSpPr>
        <p:spPr>
          <a:xfrm>
            <a:off x="1371600" y="3383280"/>
            <a:ext cx="6400440" cy="1371240"/>
          </a:xfrm>
          <a:prstGeom prst="rect">
            <a:avLst/>
          </a:prstGeom>
          <a:solidFill>
            <a:srgbClr val="2e7d32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11"/>
          <p:cNvSpPr/>
          <p:nvPr/>
        </p:nvSpPr>
        <p:spPr>
          <a:xfrm>
            <a:off x="1554480" y="3474720"/>
            <a:ext cx="60346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Zaślepiony token  =/=  Odślepiony token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To jest sedno ślepego podpisu! Nawet mając OBA dzienniki,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NIE DA SIE powiązać wpisów Rządu A z wpisami Rządu B.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1"/>
          <p:cNvSpPr/>
          <p:nvPr/>
        </p:nvSpPr>
        <p:spPr>
          <a:xfrm>
            <a:off x="731520" y="274320"/>
            <a:ext cx="7680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1a2744"/>
                </a:solidFill>
                <a:latin typeface="Arial Black"/>
                <a:ea typeface="Arial Black"/>
              </a:rPr>
              <a:t>Proof of Concept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2"/>
          <p:cNvSpPr/>
          <p:nvPr/>
        </p:nvSpPr>
        <p:spPr>
          <a:xfrm>
            <a:off x="731520" y="822960"/>
            <a:ext cx="7680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8892a0"/>
                </a:solidFill>
                <a:latin typeface="Calibri"/>
                <a:ea typeface="Calibri"/>
              </a:rPr>
              <a:t>Działający kod + interaktywny mockup aplikacji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3"/>
          <p:cNvSpPr/>
          <p:nvPr/>
        </p:nvSpPr>
        <p:spPr>
          <a:xfrm>
            <a:off x="731520" y="1371600"/>
            <a:ext cx="3657240" cy="31086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4"/>
          <p:cNvSpPr/>
          <p:nvPr/>
        </p:nvSpPr>
        <p:spPr>
          <a:xfrm>
            <a:off x="731520" y="1371600"/>
            <a:ext cx="3657240" cy="502560"/>
          </a:xfrm>
          <a:prstGeom prst="rect">
            <a:avLst/>
          </a:prstGeom>
          <a:solidFill>
            <a:srgbClr val="1a27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 5"/>
          <p:cNvSpPr/>
          <p:nvPr/>
        </p:nvSpPr>
        <p:spPr>
          <a:xfrm>
            <a:off x="731520" y="1371600"/>
            <a:ext cx="3657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Kod kryptograficzny (Python)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 6"/>
          <p:cNvSpPr/>
          <p:nvPr/>
        </p:nvSpPr>
        <p:spPr>
          <a:xfrm>
            <a:off x="914400" y="2011680"/>
            <a:ext cx="329148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Ślepe podpisy RSA (Chaum 1983)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Nieświadoma Funkcja PRF (OPRF)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Generowanie liczb pierwszych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Pełna symulacja 3 podmiotów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Test: dorosly, nieletni, ponowne użycie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Zero zewnętrznych bibliotek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7"/>
          <p:cNvSpPr/>
          <p:nvPr/>
        </p:nvSpPr>
        <p:spPr>
          <a:xfrm>
            <a:off x="4754880" y="1371600"/>
            <a:ext cx="3657240" cy="31086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8"/>
          <p:cNvSpPr/>
          <p:nvPr/>
        </p:nvSpPr>
        <p:spPr>
          <a:xfrm>
            <a:off x="4754880" y="1371600"/>
            <a:ext cx="3657240" cy="5025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 9"/>
          <p:cNvSpPr/>
          <p:nvPr/>
        </p:nvSpPr>
        <p:spPr>
          <a:xfrm>
            <a:off x="4754880" y="1371600"/>
            <a:ext cx="3657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Mockup aplikacji (HTML)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10"/>
          <p:cNvSpPr/>
          <p:nvPr/>
        </p:nvSpPr>
        <p:spPr>
          <a:xfrm>
            <a:off x="4937760" y="2011680"/>
            <a:ext cx="329148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Wygląd jak mObywatel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Generowanie kodów z timerem 5 min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7 kroków kryptografii z analogiami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Okno strony 18+ do weryfikacji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Jednorazowe spalanie kodów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4a5568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4a5568"/>
                </a:solidFill>
                <a:latin typeface="Calibri"/>
                <a:ea typeface="Calibri"/>
              </a:rPr>
              <a:t>Pełna interakcja w przeglądarce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"/>
          <p:cNvSpPr/>
          <p:nvPr/>
        </p:nvSpPr>
        <p:spPr>
          <a:xfrm>
            <a:off x="731520" y="274320"/>
            <a:ext cx="76806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Arial Black"/>
                <a:ea typeface="Arial Black"/>
              </a:rPr>
              <a:t>Podsumowanie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48" name="Table 0"/>
          <p:cNvGraphicFramePr/>
          <p:nvPr/>
        </p:nvGraphicFramePr>
        <p:xfrm>
          <a:off x="731520" y="1188720"/>
          <a:ext cx="7680600" cy="2331360"/>
        </p:xfrm>
        <a:graphic>
          <a:graphicData uri="http://schemas.openxmlformats.org/drawingml/2006/table">
            <a:tbl>
              <a:tblPr/>
              <a:tblGrid>
                <a:gridCol w="2286000"/>
                <a:gridCol w="3657600"/>
                <a:gridCol w="1737360"/>
              </a:tblGrid>
              <a:tr h="4114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Warstwa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c41e3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 gwarantuje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c41e3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Typ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c41e3a"/>
                    </a:solidFill>
                  </a:tcPr>
                </a:tc>
              </a:tr>
              <a:tr h="383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Separacja prawna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24355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8892a0"/>
                          </a:solidFill>
                          <a:latin typeface="Calibri"/>
                          <a:ea typeface="Calibri"/>
                        </a:rPr>
                        <a:t>Wymiana danych = przestępstwo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24355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2e7d32"/>
                          </a:solidFill>
                          <a:latin typeface="Calibri"/>
                          <a:ea typeface="Calibri"/>
                        </a:rPr>
                        <a:t>Prawna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243556"/>
                    </a:solidFill>
                  </a:tcPr>
                </a:tc>
              </a:tr>
              <a:tr h="383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Ślepe podpisy RSA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8892a0"/>
                          </a:solidFill>
                          <a:latin typeface="Calibri"/>
                          <a:ea typeface="Calibri"/>
                        </a:rPr>
                        <a:t>Nie da się powiązać tokenów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2968a8"/>
                          </a:solidFill>
                          <a:latin typeface="Calibri"/>
                          <a:ea typeface="Calibri"/>
                        </a:rPr>
                        <a:t>Matematyczna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1a2744"/>
                    </a:solidFill>
                  </a:tcPr>
                </a:tc>
              </a:tr>
              <a:tr h="383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OPRF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24355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8892a0"/>
                          </a:solidFill>
                          <a:latin typeface="Calibri"/>
                          <a:ea typeface="Calibri"/>
                        </a:rPr>
                        <a:t>Serwer nie widzi danych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24355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2968a8"/>
                          </a:solidFill>
                          <a:latin typeface="Calibri"/>
                          <a:ea typeface="Calibri"/>
                        </a:rPr>
                        <a:t>Matematyczna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243556"/>
                    </a:solidFill>
                  </a:tcPr>
                </a:tc>
              </a:tr>
              <a:tr h="383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Enklawy TEE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8892a0"/>
                          </a:solidFill>
                          <a:latin typeface="Calibri"/>
                          <a:ea typeface="Calibri"/>
                        </a:rPr>
                        <a:t>Kod robi to co deklaruje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f9a825"/>
                          </a:solidFill>
                          <a:latin typeface="Calibri"/>
                          <a:ea typeface="Calibri"/>
                        </a:rPr>
                        <a:t>Sprzętowa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1a2744"/>
                    </a:solidFill>
                  </a:tcPr>
                </a:tc>
              </a:tr>
              <a:tr h="383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Open-source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24355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8892a0"/>
                          </a:solidFill>
                          <a:latin typeface="Calibri"/>
                          <a:ea typeface="Calibri"/>
                        </a:rPr>
                        <a:t>Brak ukrytych backdoorow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24355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8892a0"/>
                          </a:solidFill>
                          <a:latin typeface="Calibri"/>
                          <a:ea typeface="Calibri"/>
                        </a:rPr>
                        <a:t>Społeczna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243556"/>
                      </a:solidFill>
                      <a:prstDash val="solid"/>
                    </a:lnL>
                    <a:lnR w="6480">
                      <a:solidFill>
                        <a:srgbClr val="243556"/>
                      </a:solidFill>
                      <a:prstDash val="solid"/>
                    </a:lnR>
                    <a:lnT w="6480">
                      <a:solidFill>
                        <a:srgbClr val="243556"/>
                      </a:solidFill>
                      <a:prstDash val="solid"/>
                    </a:lnT>
                    <a:lnB w="6480">
                      <a:solidFill>
                        <a:srgbClr val="243556"/>
                      </a:solidFill>
                      <a:prstDash val="solid"/>
                    </a:lnB>
                    <a:solidFill>
                      <a:srgbClr val="243556"/>
                    </a:solidFill>
                  </a:tcPr>
                </a:tc>
              </a:tr>
            </a:tbl>
          </a:graphicData>
        </a:graphic>
      </p:graphicFrame>
      <p:sp>
        <p:nvSpPr>
          <p:cNvPr id="149" name="Shape 2"/>
          <p:cNvSpPr/>
          <p:nvPr/>
        </p:nvSpPr>
        <p:spPr>
          <a:xfrm>
            <a:off x="731520" y="3749040"/>
            <a:ext cx="7680600" cy="1005480"/>
          </a:xfrm>
          <a:prstGeom prst="rect">
            <a:avLst/>
          </a:prstGeom>
          <a:solidFill>
            <a:srgbClr val="2e7d32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Text 3"/>
          <p:cNvSpPr/>
          <p:nvPr/>
        </p:nvSpPr>
        <p:spPr>
          <a:xfrm>
            <a:off x="914400" y="3794760"/>
            <a:ext cx="7314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Żeby deanonimizowac użytkownika, trzeba jednocześnie: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złamać matematykę OPRF + zhackować enklawę sprzętową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+ obejść audyt open-source + złamać prawo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41e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Text 1"/>
          <p:cNvSpPr/>
          <p:nvPr/>
        </p:nvSpPr>
        <p:spPr>
          <a:xfrm>
            <a:off x="731520" y="557280"/>
            <a:ext cx="76806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ffffff"/>
                </a:solidFill>
                <a:latin typeface="Arial Black"/>
                <a:ea typeface="Arial Black"/>
              </a:rPr>
              <a:t>Dziękujemy!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Text 2"/>
          <p:cNvSpPr/>
          <p:nvPr/>
        </p:nvSpPr>
        <p:spPr>
          <a:xfrm>
            <a:off x="731520" y="1693440"/>
            <a:ext cx="7680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8892a0"/>
                </a:solidFill>
                <a:latin typeface="Calibri"/>
                <a:ea typeface="Calibri"/>
              </a:rPr>
              <a:t>Kod źródłowy + interaktywne demo: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Shape 3"/>
          <p:cNvSpPr/>
          <p:nvPr/>
        </p:nvSpPr>
        <p:spPr>
          <a:xfrm>
            <a:off x="1828800" y="2514600"/>
            <a:ext cx="5486040" cy="1600200"/>
          </a:xfrm>
          <a:prstGeom prst="rect">
            <a:avLst/>
          </a:prstGeom>
          <a:solidFill>
            <a:srgbClr val="2435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 4">
            <a:hlinkClick r:id="rId1"/>
          </p:cNvPr>
          <p:cNvSpPr/>
          <p:nvPr/>
        </p:nvSpPr>
        <p:spPr>
          <a:xfrm>
            <a:off x="1828800" y="2926080"/>
            <a:ext cx="5486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 u="sng">
                <a:solidFill>
                  <a:srgbClr val="c41e3a"/>
                </a:solidFill>
                <a:uFillTx/>
                <a:latin typeface="Consolas"/>
                <a:ea typeface="Consolas"/>
                <a:hlinkClick r:id="rId2"/>
              </a:rPr>
              <a:t>github.com/Inner-Savages/BKIHack2026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 u="sng">
                <a:solidFill>
                  <a:srgbClr val="c41e3a"/>
                </a:solidFill>
                <a:uFillTx/>
                <a:latin typeface="Consolas"/>
                <a:ea typeface="Consolas"/>
                <a:hlinkClick r:id="rId3"/>
              </a:rPr>
              <a:t>https://mobywatel-bkihack.netlify.app/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 u="sng">
                <a:solidFill>
                  <a:srgbClr val="c41e3a"/>
                </a:solidFill>
                <a:uFillTx/>
                <a:latin typeface="Consolas"/>
                <a:ea typeface="Consolas"/>
              </a:rPr>
              <a:t>https://secured-bkihack.netlify.app/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5"/>
          <p:cNvSpPr/>
          <p:nvPr/>
        </p:nvSpPr>
        <p:spPr>
          <a:xfrm>
            <a:off x="731520" y="4114800"/>
            <a:ext cx="7680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8892a0"/>
                </a:solidFill>
                <a:latin typeface="Calibri"/>
                <a:ea typeface="Calibri"/>
              </a:rPr>
              <a:t>BKIHack 2026  |  Inner Savages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2026-03-27T21:11:55Z</dcterms:created>
  <dc:creator>Inner Savages</dc:creator>
  <dc:description/>
  <dc:language>en-US</dc:language>
  <cp:lastModifiedBy/>
  <dcterms:modified xsi:type="dcterms:W3CDTF">2026-03-28T17:08:24Z</dcterms:modified>
  <cp:revision>2</cp:revision>
  <dc:subject>PptxGenJS Presentation</dc:subject>
  <dc:title>Anonimowa Weryfikacja Wieku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