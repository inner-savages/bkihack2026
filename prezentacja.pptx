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6" r:id="rId10"/>
    <p:sldId id="265" r:id="rId11"/>
    <p:sldId id="264" r:id="rId12"/>
  </p:sldIdLst>
  <p:sldSz cx="9144000" cy="5143500" type="screen16x9"/>
  <p:notesSz cx="51435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34"/>
    <p:restoredTop sz="94661"/>
  </p:normalViewPr>
  <p:slideViewPr>
    <p:cSldViewPr snapToGrid="0">
      <p:cViewPr varScale="1">
        <p:scale>
          <a:sx n="152" d="100"/>
          <a:sy n="152" d="100"/>
        </p:scale>
        <p:origin x="67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Click to move the slide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notes format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&lt;header&gt;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5E1F3180-906B-4856-922B-D4AAD2097834}" type="slidenum"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5C3F370-7C0A-4212-A0F7-985E8D9469F2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1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25710A4-403D-4BE5-857F-21D0E94356BB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2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C6530E5-4F7A-4820-9829-8EFC153AD6FA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3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E4EB94C-2740-4BAA-9B68-4C223311169B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4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BE9EABF-31C4-4958-B0FB-D399396A6318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5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A714127-55CA-4A0B-82F6-8A7AA71AC04F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6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BB0C2D8-CD15-4D91-8263-9883A1DE8973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7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373B3CF-29AD-4A28-9C88-800FF26DB7D1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8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808E1-D703-6C47-8BDE-DAAE572CB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>
            <a:extLst>
              <a:ext uri="{FF2B5EF4-FFF2-40B4-BE49-F238E27FC236}">
                <a16:creationId xmlns:a16="http://schemas.microsoft.com/office/drawing/2014/main" id="{13BDDEAB-AC74-5E24-68C6-06B590B919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79" name="PlaceHolder 2">
            <a:extLst>
              <a:ext uri="{FF2B5EF4-FFF2-40B4-BE49-F238E27FC236}">
                <a16:creationId xmlns:a16="http://schemas.microsoft.com/office/drawing/2014/main" id="{26AEAD3D-679A-AA71-562C-459DC07A873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3">
            <a:extLst>
              <a:ext uri="{FF2B5EF4-FFF2-40B4-BE49-F238E27FC236}">
                <a16:creationId xmlns:a16="http://schemas.microsoft.com/office/drawing/2014/main" id="{3FB73702-4854-AED8-CC5E-EF51E923E0D6}"/>
              </a:ext>
            </a:extLst>
          </p:cNvPr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373B3CF-29AD-4A28-9C88-800FF26DB7D1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9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92813631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56CC8A0-533B-47B4-A1D0-B45A2996EBC6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10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84C3152-DCC1-4C41-8983-B63D60883BA2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11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5303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nner-Savages/BKIHack2026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mobywatel-bkihack.netlify.app/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C41E3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720" rIns="90000" bIns="972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731520" y="914400"/>
            <a:ext cx="7680600" cy="2011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4400" b="1" spc="-1" dirty="0" err="1">
                <a:solidFill>
                  <a:srgbClr val="FFFFFF"/>
                </a:solidFill>
                <a:latin typeface="Arial Black"/>
                <a:ea typeface="Arial Black"/>
              </a:rPr>
              <a:t>a</a:t>
            </a:r>
            <a:r>
              <a:rPr lang="en-US" sz="4400" b="1" strike="noStrike" spc="-1" dirty="0" err="1">
                <a:solidFill>
                  <a:srgbClr val="FFFFFF"/>
                </a:solidFill>
                <a:latin typeface="Arial Black"/>
                <a:ea typeface="Arial Black"/>
              </a:rPr>
              <a:t>gePass</a:t>
            </a:r>
            <a:endParaRPr lang="en-US" sz="44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731520" y="2926080"/>
            <a:ext cx="640044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800" b="0" i="1" strike="noStrike" spc="-1">
                <a:solidFill>
                  <a:srgbClr val="8892A0"/>
                </a:solidFill>
                <a:latin typeface="Calibri"/>
                <a:ea typeface="Calibri"/>
              </a:rPr>
              <a:t>Jak udowodnić stronie internetowej, że masz 18+ lat,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800" b="0" i="1" strike="noStrike" spc="-1">
                <a:solidFill>
                  <a:srgbClr val="8892A0"/>
                </a:solidFill>
                <a:latin typeface="Calibri"/>
                <a:ea typeface="Calibri"/>
              </a:rPr>
              <a:t>bez ujawniania kim jesteś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Shape 3"/>
          <p:cNvSpPr/>
          <p:nvPr/>
        </p:nvSpPr>
        <p:spPr>
          <a:xfrm>
            <a:off x="0" y="4434840"/>
            <a:ext cx="9143640" cy="712800"/>
          </a:xfrm>
          <a:prstGeom prst="rect">
            <a:avLst/>
          </a:prstGeom>
          <a:solidFill>
            <a:srgbClr val="24355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731520" y="4480560"/>
            <a:ext cx="768060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rgbClr val="8892A0"/>
                </a:solidFill>
                <a:latin typeface="Calibri"/>
                <a:ea typeface="Calibri"/>
              </a:rPr>
              <a:t>BKIHack 2026  |  Inner Savages</a:t>
            </a:r>
            <a:endParaRPr lang="en-US" sz="1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Shape 5"/>
          <p:cNvSpPr/>
          <p:nvPr/>
        </p:nvSpPr>
        <p:spPr>
          <a:xfrm>
            <a:off x="8595360" y="914400"/>
            <a:ext cx="91080" cy="2559960"/>
          </a:xfrm>
          <a:prstGeom prst="rect">
            <a:avLst/>
          </a:prstGeom>
          <a:solidFill>
            <a:srgbClr val="C41E3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4" name="Picture 13"/>
          <p:cNvPicPr/>
          <p:nvPr/>
        </p:nvPicPr>
        <p:blipFill>
          <a:blip r:embed="rId3"/>
          <a:stretch/>
        </p:blipFill>
        <p:spPr>
          <a:xfrm>
            <a:off x="4800600" y="311760"/>
            <a:ext cx="3200400" cy="174564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hape 0"/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C41E3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720" rIns="90000" bIns="972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Text 1"/>
          <p:cNvSpPr/>
          <p:nvPr/>
        </p:nvSpPr>
        <p:spPr>
          <a:xfrm>
            <a:off x="731520" y="274320"/>
            <a:ext cx="76806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strike="noStrike" spc="-1">
                <a:solidFill>
                  <a:srgbClr val="1A2744"/>
                </a:solidFill>
                <a:latin typeface="Arial Black"/>
                <a:ea typeface="Arial Black"/>
              </a:rPr>
              <a:t>Problem</a:t>
            </a: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Shape 2"/>
          <p:cNvSpPr/>
          <p:nvPr/>
        </p:nvSpPr>
        <p:spPr>
          <a:xfrm>
            <a:off x="731520" y="1097280"/>
            <a:ext cx="3840120" cy="34743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blurRad="1015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Shape 3"/>
          <p:cNvSpPr/>
          <p:nvPr/>
        </p:nvSpPr>
        <p:spPr>
          <a:xfrm>
            <a:off x="731520" y="1097280"/>
            <a:ext cx="72720" cy="3474360"/>
          </a:xfrm>
          <a:prstGeom prst="rect">
            <a:avLst/>
          </a:prstGeom>
          <a:solidFill>
            <a:srgbClr val="C41E3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Text 4"/>
          <p:cNvSpPr/>
          <p:nvPr/>
        </p:nvSpPr>
        <p:spPr>
          <a:xfrm>
            <a:off x="1051560" y="1234440"/>
            <a:ext cx="338292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>
                <a:solidFill>
                  <a:srgbClr val="1A2744"/>
                </a:solidFill>
                <a:latin typeface="Calibri"/>
                <a:ea typeface="Calibri"/>
              </a:rPr>
              <a:t>Obecne rozwiązania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Text 5"/>
          <p:cNvSpPr/>
          <p:nvPr/>
        </p:nvSpPr>
        <p:spPr>
          <a:xfrm>
            <a:off x="1051560" y="1783080"/>
            <a:ext cx="3291480" cy="255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4A5568"/>
              </a:buClr>
              <a:buFont typeface="Symbol" charset="2"/>
              <a:buChar char=""/>
            </a:pPr>
            <a:r>
              <a:rPr lang="en-US" sz="1300" b="0" strike="noStrike" spc="-1">
                <a:solidFill>
                  <a:srgbClr val="4A5568"/>
                </a:solidFill>
                <a:latin typeface="Calibri"/>
                <a:ea typeface="Calibri"/>
              </a:rPr>
              <a:t>Podawanie danych osobowych stronom 18+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4A5568"/>
              </a:buClr>
              <a:buFont typeface="Symbol" charset="2"/>
              <a:buChar char=""/>
            </a:pPr>
            <a:r>
              <a:rPr lang="en-US" sz="1300" b="0" strike="noStrike" spc="-1">
                <a:solidFill>
                  <a:srgbClr val="4A5568"/>
                </a:solidFill>
                <a:latin typeface="Calibri"/>
                <a:ea typeface="Calibri"/>
              </a:rPr>
              <a:t>Brak realnej weryfikacji (checkboxy)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4A5568"/>
              </a:buClr>
              <a:buFont typeface="Symbol" charset="2"/>
              <a:buChar char=""/>
            </a:pPr>
            <a:r>
              <a:rPr lang="en-US" sz="1300" b="0" strike="noStrike" spc="-1">
                <a:solidFill>
                  <a:srgbClr val="4A5568"/>
                </a:solidFill>
                <a:latin typeface="Calibri"/>
                <a:ea typeface="Calibri"/>
              </a:rPr>
              <a:t>Wymuszanie logowania przez e-PUAP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4A5568"/>
              </a:buClr>
              <a:buFont typeface="Symbol" charset="2"/>
              <a:buChar char=""/>
            </a:pPr>
            <a:r>
              <a:rPr lang="en-US" sz="1300" b="0" strike="noStrike" spc="-1">
                <a:solidFill>
                  <a:srgbClr val="4A5568"/>
                </a:solidFill>
                <a:latin typeface="Calibri"/>
                <a:ea typeface="Calibri"/>
              </a:rPr>
              <a:t>Ryzyko profilowania i inwigilacji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Shape 6"/>
          <p:cNvSpPr/>
          <p:nvPr/>
        </p:nvSpPr>
        <p:spPr>
          <a:xfrm>
            <a:off x="4937760" y="1097280"/>
            <a:ext cx="3657240" cy="34743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blurRad="1015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Shape 7"/>
          <p:cNvSpPr/>
          <p:nvPr/>
        </p:nvSpPr>
        <p:spPr>
          <a:xfrm>
            <a:off x="4937760" y="1097280"/>
            <a:ext cx="72720" cy="3474360"/>
          </a:xfrm>
          <a:prstGeom prst="rect">
            <a:avLst/>
          </a:prstGeom>
          <a:solidFill>
            <a:srgbClr val="2E7D3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Text 8"/>
          <p:cNvSpPr/>
          <p:nvPr/>
        </p:nvSpPr>
        <p:spPr>
          <a:xfrm>
            <a:off x="5257800" y="1234440"/>
            <a:ext cx="32000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>
                <a:solidFill>
                  <a:srgbClr val="2E7D32"/>
                </a:solidFill>
                <a:latin typeface="Calibri"/>
                <a:ea typeface="Calibri"/>
              </a:rPr>
              <a:t>Czego potrzebujemy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Text 9"/>
          <p:cNvSpPr/>
          <p:nvPr/>
        </p:nvSpPr>
        <p:spPr>
          <a:xfrm>
            <a:off x="5257800" y="1783080"/>
            <a:ext cx="3200040" cy="255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4A5568"/>
              </a:buClr>
              <a:buFont typeface="Symbol" charset="2"/>
              <a:buChar char=""/>
            </a:pPr>
            <a:r>
              <a:rPr lang="en-US" sz="1300" b="0" strike="noStrike" spc="-1">
                <a:solidFill>
                  <a:srgbClr val="4A5568"/>
                </a:solidFill>
                <a:latin typeface="Calibri"/>
                <a:ea typeface="Calibri"/>
              </a:rPr>
              <a:t>Weryfikacja wieku BEZ ujawniania tożsamości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4A5568"/>
              </a:buClr>
              <a:buFont typeface="Symbol" charset="2"/>
              <a:buChar char=""/>
            </a:pPr>
            <a:r>
              <a:rPr lang="en-US" sz="1300" b="0" strike="noStrike" spc="-1">
                <a:solidFill>
                  <a:srgbClr val="4A5568"/>
                </a:solidFill>
                <a:latin typeface="Calibri"/>
                <a:ea typeface="Calibri"/>
              </a:rPr>
              <a:t>Brak możliwości śledzenia użytkownika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4A5568"/>
              </a:buClr>
              <a:buFont typeface="Symbol" charset="2"/>
              <a:buChar char=""/>
            </a:pPr>
            <a:r>
              <a:rPr lang="en-US" sz="1300" b="0" strike="noStrike" spc="-1">
                <a:solidFill>
                  <a:srgbClr val="4A5568"/>
                </a:solidFill>
                <a:latin typeface="Calibri"/>
                <a:ea typeface="Calibri"/>
              </a:rPr>
              <a:t>Prostota użycia (6-cyfrowy kod)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4A5568"/>
              </a:buClr>
              <a:buFont typeface="Symbol" charset="2"/>
              <a:buChar char=""/>
            </a:pPr>
            <a:r>
              <a:rPr lang="en-US" sz="1300" b="0" strike="noStrike" spc="-1">
                <a:solidFill>
                  <a:srgbClr val="4A5568"/>
                </a:solidFill>
                <a:latin typeface="Calibri"/>
                <a:ea typeface="Calibri"/>
              </a:rPr>
              <a:t>Odporność na zmowę podmiotów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hape 0"/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C41E3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720" rIns="90000" bIns="972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Text 1"/>
          <p:cNvSpPr/>
          <p:nvPr/>
        </p:nvSpPr>
        <p:spPr>
          <a:xfrm>
            <a:off x="731520" y="274320"/>
            <a:ext cx="76806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strike="noStrike" spc="-1">
                <a:solidFill>
                  <a:srgbClr val="1A2744"/>
                </a:solidFill>
                <a:latin typeface="Arial Black"/>
                <a:ea typeface="Arial Black"/>
              </a:rPr>
              <a:t>Architektura trójstronna</a:t>
            </a: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Text 2"/>
          <p:cNvSpPr/>
          <p:nvPr/>
        </p:nvSpPr>
        <p:spPr>
          <a:xfrm>
            <a:off x="731520" y="868680"/>
            <a:ext cx="76806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strike="noStrike" spc="-1">
                <a:solidFill>
                  <a:srgbClr val="8892A0"/>
                </a:solidFill>
                <a:latin typeface="Calibri"/>
                <a:ea typeface="Calibri"/>
              </a:rPr>
              <a:t>Trzy podmioty, z których żaden nie wie wszystkiego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Shape 3"/>
          <p:cNvSpPr/>
          <p:nvPr/>
        </p:nvSpPr>
        <p:spPr>
          <a:xfrm>
            <a:off x="457200" y="1417320"/>
            <a:ext cx="2559960" cy="329148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blurRad="1015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Shape 4"/>
          <p:cNvSpPr/>
          <p:nvPr/>
        </p:nvSpPr>
        <p:spPr>
          <a:xfrm>
            <a:off x="457200" y="1417320"/>
            <a:ext cx="2559960" cy="594000"/>
          </a:xfrm>
          <a:prstGeom prst="rect">
            <a:avLst/>
          </a:prstGeom>
          <a:solidFill>
            <a:srgbClr val="C41E3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Text 5"/>
          <p:cNvSpPr/>
          <p:nvPr/>
        </p:nvSpPr>
        <p:spPr>
          <a:xfrm>
            <a:off x="457200" y="1417320"/>
            <a:ext cx="25599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>
                <a:solidFill>
                  <a:srgbClr val="FFFFFF"/>
                </a:solidFill>
                <a:latin typeface="Calibri"/>
                <a:ea typeface="Calibri"/>
              </a:rPr>
              <a:t>Rząd A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Text 6"/>
          <p:cNvSpPr/>
          <p:nvPr/>
        </p:nvSpPr>
        <p:spPr>
          <a:xfrm>
            <a:off x="457200" y="1764720"/>
            <a:ext cx="25599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strike="noStrike" spc="-1" dirty="0" err="1">
                <a:solidFill>
                  <a:srgbClr val="CCCCCC"/>
                </a:solidFill>
                <a:latin typeface="Calibri"/>
                <a:ea typeface="Calibri"/>
              </a:rPr>
              <a:t>mObywatel</a:t>
            </a:r>
            <a:endParaRPr lang="en-US" sz="1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Text 7"/>
          <p:cNvSpPr/>
          <p:nvPr/>
        </p:nvSpPr>
        <p:spPr>
          <a:xfrm>
            <a:off x="640080" y="2148840"/>
            <a:ext cx="21942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 dirty="0">
                <a:solidFill>
                  <a:srgbClr val="2E7D32"/>
                </a:solidFill>
                <a:latin typeface="Calibri"/>
                <a:ea typeface="Calibri"/>
              </a:rPr>
              <a:t>WIE:</a:t>
            </a:r>
            <a:endParaRPr lang="en-US" sz="16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Text 8"/>
          <p:cNvSpPr/>
          <p:nvPr/>
        </p:nvSpPr>
        <p:spPr>
          <a:xfrm>
            <a:off x="640080" y="2377440"/>
            <a:ext cx="219420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-1" dirty="0">
                <a:solidFill>
                  <a:srgbClr val="4A5568"/>
                </a:solidFill>
                <a:latin typeface="Calibri"/>
                <a:ea typeface="Calibri"/>
              </a:rPr>
              <a:t>Kim </a:t>
            </a:r>
            <a:r>
              <a:rPr lang="en-US" sz="1200" b="1" strike="noStrike" spc="-1" dirty="0" err="1">
                <a:solidFill>
                  <a:srgbClr val="4A5568"/>
                </a:solidFill>
                <a:latin typeface="Calibri"/>
                <a:ea typeface="Calibri"/>
              </a:rPr>
              <a:t>jesteś</a:t>
            </a:r>
            <a:r>
              <a:rPr lang="en-US" sz="1200" b="1" spc="-1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200" b="1" strike="noStrike" spc="-1" dirty="0" err="1">
                <a:solidFill>
                  <a:srgbClr val="4A5568"/>
                </a:solidFill>
                <a:latin typeface="Calibri"/>
                <a:ea typeface="Calibri"/>
              </a:rPr>
              <a:t>i</a:t>
            </a:r>
            <a:r>
              <a:rPr lang="en-US" sz="1200" b="1" strike="noStrike" spc="-1" dirty="0">
                <a:solidFill>
                  <a:srgbClr val="4A5568"/>
                </a:solidFill>
                <a:latin typeface="Calibri"/>
                <a:ea typeface="Calibri"/>
              </a:rPr>
              <a:t> </a:t>
            </a:r>
            <a:r>
              <a:rPr lang="en-US" sz="1200" b="1" strike="noStrike" spc="-1" dirty="0" err="1">
                <a:solidFill>
                  <a:srgbClr val="4A5568"/>
                </a:solidFill>
                <a:latin typeface="Calibri"/>
                <a:ea typeface="Calibri"/>
              </a:rPr>
              <a:t>ile</a:t>
            </a:r>
            <a:r>
              <a:rPr lang="en-US" sz="1200" b="1" strike="noStrike" spc="-1" dirty="0">
                <a:solidFill>
                  <a:srgbClr val="4A5568"/>
                </a:solidFill>
                <a:latin typeface="Calibri"/>
                <a:ea typeface="Calibri"/>
              </a:rPr>
              <a:t> </a:t>
            </a:r>
            <a:r>
              <a:rPr lang="en-US" sz="1200" b="1" strike="noStrike" spc="-1" dirty="0" err="1">
                <a:solidFill>
                  <a:srgbClr val="4A5568"/>
                </a:solidFill>
                <a:latin typeface="Calibri"/>
                <a:ea typeface="Calibri"/>
              </a:rPr>
              <a:t>masz</a:t>
            </a:r>
            <a:r>
              <a:rPr lang="en-US" sz="1200" b="1" strike="noStrike" spc="-1" dirty="0">
                <a:solidFill>
                  <a:srgbClr val="4A5568"/>
                </a:solidFill>
                <a:latin typeface="Calibri"/>
                <a:ea typeface="Calibri"/>
              </a:rPr>
              <a:t> </a:t>
            </a:r>
            <a:r>
              <a:rPr lang="en-US" sz="1200" b="1" strike="noStrike" spc="-1" dirty="0" err="1">
                <a:solidFill>
                  <a:srgbClr val="4A5568"/>
                </a:solidFill>
                <a:latin typeface="Calibri"/>
                <a:ea typeface="Calibri"/>
              </a:rPr>
              <a:t>lat</a:t>
            </a:r>
            <a:endParaRPr lang="en-US" sz="1200" b="1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Text 9"/>
          <p:cNvSpPr/>
          <p:nvPr/>
        </p:nvSpPr>
        <p:spPr>
          <a:xfrm>
            <a:off x="640080" y="3200400"/>
            <a:ext cx="21942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 dirty="0">
                <a:solidFill>
                  <a:srgbClr val="C41E3A"/>
                </a:solidFill>
                <a:latin typeface="Calibri"/>
                <a:ea typeface="Calibri"/>
              </a:rPr>
              <a:t>NIE WIE:</a:t>
            </a:r>
            <a:endParaRPr lang="en-US" sz="16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Text 10"/>
          <p:cNvSpPr/>
          <p:nvPr/>
        </p:nvSpPr>
        <p:spPr>
          <a:xfrm>
            <a:off x="640080" y="3429000"/>
            <a:ext cx="219420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-1" dirty="0" err="1">
                <a:solidFill>
                  <a:srgbClr val="4A5568"/>
                </a:solidFill>
                <a:latin typeface="Calibri"/>
                <a:ea typeface="Calibri"/>
              </a:rPr>
              <a:t>Jakiego</a:t>
            </a:r>
            <a:r>
              <a:rPr lang="en-US" sz="1200" b="1" strike="noStrike" spc="-1" dirty="0">
                <a:solidFill>
                  <a:srgbClr val="4A5568"/>
                </a:solidFill>
                <a:latin typeface="Calibri"/>
                <a:ea typeface="Calibri"/>
              </a:rPr>
              <a:t> </a:t>
            </a:r>
            <a:r>
              <a:rPr lang="en-US" sz="1200" b="1" strike="noStrike" spc="-1" dirty="0" err="1">
                <a:solidFill>
                  <a:srgbClr val="4A5568"/>
                </a:solidFill>
                <a:latin typeface="Calibri"/>
                <a:ea typeface="Calibri"/>
              </a:rPr>
              <a:t>kodu</a:t>
            </a:r>
            <a:r>
              <a:rPr lang="en-US" sz="1200" b="1" strike="noStrike" spc="-1" dirty="0">
                <a:solidFill>
                  <a:srgbClr val="4A5568"/>
                </a:solidFill>
                <a:latin typeface="Calibri"/>
                <a:ea typeface="Calibri"/>
              </a:rPr>
              <a:t> </a:t>
            </a:r>
            <a:r>
              <a:rPr lang="en-US" sz="1200" b="1" strike="noStrike" spc="-1" dirty="0" err="1">
                <a:solidFill>
                  <a:srgbClr val="4A5568"/>
                </a:solidFill>
                <a:latin typeface="Calibri"/>
                <a:ea typeface="Calibri"/>
              </a:rPr>
              <a:t>używasz</a:t>
            </a:r>
            <a:r>
              <a:rPr lang="en-US" sz="1200" b="1" spc="-1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200" b="1" strike="noStrike" spc="-1" dirty="0">
                <a:solidFill>
                  <a:srgbClr val="4A5568"/>
                </a:solidFill>
                <a:latin typeface="Calibri"/>
                <a:ea typeface="Calibri"/>
              </a:rPr>
              <a:t>ani </a:t>
            </a:r>
            <a:r>
              <a:rPr lang="en-US" sz="1200" b="1" strike="noStrike" spc="-1" dirty="0" err="1">
                <a:solidFill>
                  <a:srgbClr val="4A5568"/>
                </a:solidFill>
                <a:latin typeface="Calibri"/>
                <a:ea typeface="Calibri"/>
              </a:rPr>
              <a:t>na</a:t>
            </a:r>
            <a:r>
              <a:rPr lang="en-US" sz="1200" b="1" strike="noStrike" spc="-1" dirty="0">
                <a:solidFill>
                  <a:srgbClr val="4A5568"/>
                </a:solidFill>
                <a:latin typeface="Calibri"/>
                <a:ea typeface="Calibri"/>
              </a:rPr>
              <a:t> </a:t>
            </a:r>
            <a:r>
              <a:rPr lang="en-US" sz="1200" b="1" strike="noStrike" spc="-1" dirty="0" err="1">
                <a:solidFill>
                  <a:srgbClr val="4A5568"/>
                </a:solidFill>
                <a:latin typeface="Calibri"/>
                <a:ea typeface="Calibri"/>
              </a:rPr>
              <a:t>jakiej</a:t>
            </a:r>
            <a:r>
              <a:rPr lang="en-US" sz="1200" b="1" strike="noStrike" spc="-1" dirty="0">
                <a:solidFill>
                  <a:srgbClr val="4A5568"/>
                </a:solidFill>
                <a:latin typeface="Calibri"/>
                <a:ea typeface="Calibri"/>
              </a:rPr>
              <a:t> </a:t>
            </a:r>
            <a:r>
              <a:rPr lang="en-US" sz="1200" b="1" strike="noStrike" spc="-1" dirty="0" err="1">
                <a:solidFill>
                  <a:srgbClr val="4A5568"/>
                </a:solidFill>
                <a:latin typeface="Calibri"/>
                <a:ea typeface="Calibri"/>
              </a:rPr>
              <a:t>stronie</a:t>
            </a:r>
            <a:endParaRPr lang="en-US" sz="1200" b="1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Shape 11"/>
          <p:cNvSpPr/>
          <p:nvPr/>
        </p:nvSpPr>
        <p:spPr>
          <a:xfrm>
            <a:off x="3291840" y="1417320"/>
            <a:ext cx="2559960" cy="329148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blurRad="1015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Shape 12"/>
          <p:cNvSpPr/>
          <p:nvPr/>
        </p:nvSpPr>
        <p:spPr>
          <a:xfrm>
            <a:off x="3291840" y="1417320"/>
            <a:ext cx="2559960" cy="594000"/>
          </a:xfrm>
          <a:prstGeom prst="rect">
            <a:avLst/>
          </a:prstGeom>
          <a:solidFill>
            <a:srgbClr val="2968A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Text 13"/>
          <p:cNvSpPr/>
          <p:nvPr/>
        </p:nvSpPr>
        <p:spPr>
          <a:xfrm>
            <a:off x="3291840" y="1417320"/>
            <a:ext cx="25599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>
                <a:solidFill>
                  <a:srgbClr val="FFFFFF"/>
                </a:solidFill>
                <a:latin typeface="Calibri"/>
                <a:ea typeface="Calibri"/>
              </a:rPr>
              <a:t>Rząd B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Text 14"/>
          <p:cNvSpPr/>
          <p:nvPr/>
        </p:nvSpPr>
        <p:spPr>
          <a:xfrm>
            <a:off x="3291840" y="1764720"/>
            <a:ext cx="25599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strike="noStrike" spc="-1" dirty="0">
                <a:solidFill>
                  <a:srgbClr val="CCCCCC"/>
                </a:solidFill>
                <a:latin typeface="Calibri"/>
                <a:ea typeface="Calibri"/>
              </a:rPr>
              <a:t>np. NASK</a:t>
            </a:r>
            <a:endParaRPr lang="en-US" sz="1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Text 15"/>
          <p:cNvSpPr/>
          <p:nvPr/>
        </p:nvSpPr>
        <p:spPr>
          <a:xfrm>
            <a:off x="3474720" y="2148840"/>
            <a:ext cx="21942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 dirty="0">
                <a:solidFill>
                  <a:srgbClr val="2E7D32"/>
                </a:solidFill>
                <a:latin typeface="Calibri"/>
                <a:ea typeface="Calibri"/>
              </a:rPr>
              <a:t>WIE:</a:t>
            </a:r>
            <a:endParaRPr lang="en-US" sz="16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Text 16"/>
          <p:cNvSpPr/>
          <p:nvPr/>
        </p:nvSpPr>
        <p:spPr>
          <a:xfrm>
            <a:off x="3474720" y="2377440"/>
            <a:ext cx="219420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-1" dirty="0" err="1">
                <a:solidFill>
                  <a:srgbClr val="4A5568"/>
                </a:solidFill>
                <a:latin typeface="Calibri"/>
                <a:ea typeface="Calibri"/>
              </a:rPr>
              <a:t>ktoś</a:t>
            </a:r>
            <a:r>
              <a:rPr lang="en-US" sz="1200" b="1" strike="noStrike" spc="-1" dirty="0">
                <a:solidFill>
                  <a:srgbClr val="4A5568"/>
                </a:solidFill>
                <a:latin typeface="Calibri"/>
                <a:ea typeface="Calibri"/>
              </a:rPr>
              <a:t> </a:t>
            </a:r>
            <a:r>
              <a:rPr lang="en-US" sz="1200" b="1" strike="noStrike" spc="-1" dirty="0" err="1">
                <a:solidFill>
                  <a:srgbClr val="4A5568"/>
                </a:solidFill>
                <a:latin typeface="Calibri"/>
                <a:ea typeface="Calibri"/>
              </a:rPr>
              <a:t>anonimowy</a:t>
            </a:r>
            <a:r>
              <a:rPr lang="en-US" sz="1200" b="1" spc="-1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200" b="1" strike="noStrike" spc="-1" dirty="0">
                <a:solidFill>
                  <a:srgbClr val="4A5568"/>
                </a:solidFill>
                <a:latin typeface="Calibri"/>
                <a:ea typeface="Calibri"/>
              </a:rPr>
              <a:t>ma 18+</a:t>
            </a:r>
            <a:endParaRPr lang="en-US" sz="1200" b="1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Text 17"/>
          <p:cNvSpPr/>
          <p:nvPr/>
        </p:nvSpPr>
        <p:spPr>
          <a:xfrm>
            <a:off x="3474720" y="3200400"/>
            <a:ext cx="21942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 dirty="0">
                <a:solidFill>
                  <a:srgbClr val="C41E3A"/>
                </a:solidFill>
                <a:latin typeface="Calibri"/>
                <a:ea typeface="Calibri"/>
              </a:rPr>
              <a:t>NIE WIE:</a:t>
            </a:r>
            <a:endParaRPr lang="en-US" sz="16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Text 18"/>
          <p:cNvSpPr/>
          <p:nvPr/>
        </p:nvSpPr>
        <p:spPr>
          <a:xfrm>
            <a:off x="3474720" y="3429000"/>
            <a:ext cx="219420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-1" dirty="0">
                <a:solidFill>
                  <a:srgbClr val="4A5568"/>
                </a:solidFill>
                <a:latin typeface="Calibri"/>
                <a:ea typeface="Calibri"/>
              </a:rPr>
              <a:t>Kim jest</a:t>
            </a:r>
            <a:r>
              <a:rPr lang="en-US" sz="1200" b="1" spc="-1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200" b="1" strike="noStrike" spc="-1" dirty="0">
                <a:solidFill>
                  <a:srgbClr val="4A5568"/>
                </a:solidFill>
                <a:latin typeface="Calibri"/>
                <a:ea typeface="Calibri"/>
              </a:rPr>
              <a:t>ta </a:t>
            </a:r>
            <a:r>
              <a:rPr lang="en-US" sz="1200" b="1" strike="noStrike" spc="-1" dirty="0" err="1">
                <a:solidFill>
                  <a:srgbClr val="4A5568"/>
                </a:solidFill>
                <a:latin typeface="Calibri"/>
                <a:ea typeface="Calibri"/>
              </a:rPr>
              <a:t>osoba</a:t>
            </a:r>
            <a:endParaRPr lang="en-US" sz="1200" b="1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Shape 19"/>
          <p:cNvSpPr/>
          <p:nvPr/>
        </p:nvSpPr>
        <p:spPr>
          <a:xfrm>
            <a:off x="6126480" y="1417320"/>
            <a:ext cx="2559960" cy="329148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blurRad="1015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Shape 20"/>
          <p:cNvSpPr/>
          <p:nvPr/>
        </p:nvSpPr>
        <p:spPr>
          <a:xfrm>
            <a:off x="6126480" y="1417320"/>
            <a:ext cx="2559960" cy="594000"/>
          </a:xfrm>
          <a:prstGeom prst="rect">
            <a:avLst/>
          </a:prstGeom>
          <a:solidFill>
            <a:srgbClr val="4A556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" name="Text 21"/>
          <p:cNvSpPr/>
          <p:nvPr/>
        </p:nvSpPr>
        <p:spPr>
          <a:xfrm>
            <a:off x="6126480" y="1417320"/>
            <a:ext cx="25599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>
                <a:solidFill>
                  <a:srgbClr val="FFFFFF"/>
                </a:solidFill>
                <a:latin typeface="Calibri"/>
                <a:ea typeface="Calibri"/>
              </a:rPr>
              <a:t>Strona 18+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Text 22"/>
          <p:cNvSpPr/>
          <p:nvPr/>
        </p:nvSpPr>
        <p:spPr>
          <a:xfrm>
            <a:off x="6126480" y="1764720"/>
            <a:ext cx="25599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strike="noStrike" spc="-1" dirty="0" err="1">
                <a:solidFill>
                  <a:srgbClr val="CCCCCC"/>
                </a:solidFill>
                <a:latin typeface="Calibri"/>
                <a:ea typeface="Calibri"/>
              </a:rPr>
              <a:t>Odbiorca</a:t>
            </a:r>
            <a:r>
              <a:rPr lang="en-US" sz="1000" b="0" strike="noStrike" spc="-1" dirty="0">
                <a:solidFill>
                  <a:srgbClr val="CCCCCC"/>
                </a:solidFill>
                <a:latin typeface="Calibri"/>
                <a:ea typeface="Calibri"/>
              </a:rPr>
              <a:t> </a:t>
            </a:r>
            <a:r>
              <a:rPr lang="en-US" sz="1000" b="0" strike="noStrike" spc="-1" dirty="0" err="1">
                <a:solidFill>
                  <a:srgbClr val="CCCCCC"/>
                </a:solidFill>
                <a:latin typeface="Calibri"/>
                <a:ea typeface="Calibri"/>
              </a:rPr>
              <a:t>kodu</a:t>
            </a:r>
            <a:endParaRPr lang="en-US" sz="1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Text 23"/>
          <p:cNvSpPr/>
          <p:nvPr/>
        </p:nvSpPr>
        <p:spPr>
          <a:xfrm>
            <a:off x="6309360" y="2148840"/>
            <a:ext cx="21942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 dirty="0">
                <a:solidFill>
                  <a:srgbClr val="2E7D32"/>
                </a:solidFill>
                <a:latin typeface="Calibri"/>
                <a:ea typeface="Calibri"/>
              </a:rPr>
              <a:t>WIE:</a:t>
            </a:r>
            <a:endParaRPr lang="en-US" sz="16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Text 24"/>
          <p:cNvSpPr/>
          <p:nvPr/>
        </p:nvSpPr>
        <p:spPr>
          <a:xfrm>
            <a:off x="6309360" y="2377440"/>
            <a:ext cx="219420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-1" dirty="0" err="1">
                <a:solidFill>
                  <a:srgbClr val="4A5568"/>
                </a:solidFill>
                <a:latin typeface="Calibri"/>
                <a:ea typeface="Calibri"/>
              </a:rPr>
              <a:t>wpisany</a:t>
            </a:r>
            <a:r>
              <a:rPr lang="en-US" sz="1200" b="1" strike="noStrike" spc="-1" dirty="0">
                <a:solidFill>
                  <a:srgbClr val="4A5568"/>
                </a:solidFill>
                <a:latin typeface="Calibri"/>
                <a:ea typeface="Calibri"/>
              </a:rPr>
              <a:t> </a:t>
            </a:r>
            <a:r>
              <a:rPr lang="en-US" sz="1200" b="1" strike="noStrike" spc="-1" dirty="0" err="1">
                <a:solidFill>
                  <a:srgbClr val="4A5568"/>
                </a:solidFill>
                <a:latin typeface="Calibri"/>
                <a:ea typeface="Calibri"/>
              </a:rPr>
              <a:t>kod</a:t>
            </a:r>
            <a:r>
              <a:rPr lang="en-US" sz="1200" b="1" spc="-1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200" b="1" strike="noStrike" spc="-1" dirty="0">
                <a:solidFill>
                  <a:srgbClr val="4A5568"/>
                </a:solidFill>
                <a:latin typeface="Calibri"/>
                <a:ea typeface="Calibri"/>
              </a:rPr>
              <a:t>jest </a:t>
            </a:r>
            <a:r>
              <a:rPr lang="en-US" sz="1200" b="1" strike="noStrike" spc="-1" dirty="0" err="1">
                <a:solidFill>
                  <a:srgbClr val="4A5568"/>
                </a:solidFill>
                <a:latin typeface="Calibri"/>
                <a:ea typeface="Calibri"/>
              </a:rPr>
              <a:t>ważny</a:t>
            </a:r>
            <a:endParaRPr lang="en-US" sz="1200" b="1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Text 25"/>
          <p:cNvSpPr/>
          <p:nvPr/>
        </p:nvSpPr>
        <p:spPr>
          <a:xfrm>
            <a:off x="6309360" y="3200400"/>
            <a:ext cx="21942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 dirty="0">
                <a:solidFill>
                  <a:srgbClr val="C41E3A"/>
                </a:solidFill>
                <a:latin typeface="Calibri"/>
                <a:ea typeface="Calibri"/>
              </a:rPr>
              <a:t>NIE WIE:</a:t>
            </a:r>
            <a:endParaRPr lang="en-US" sz="16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Text 26"/>
          <p:cNvSpPr/>
          <p:nvPr/>
        </p:nvSpPr>
        <p:spPr>
          <a:xfrm>
            <a:off x="6309360" y="3429000"/>
            <a:ext cx="219420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-1" dirty="0">
                <a:solidFill>
                  <a:srgbClr val="4A5568"/>
                </a:solidFill>
                <a:latin typeface="Calibri"/>
                <a:ea typeface="Calibri"/>
              </a:rPr>
              <a:t>Kim jest</a:t>
            </a:r>
            <a:r>
              <a:rPr lang="en-US" sz="1200" b="1" spc="-1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200" b="1" strike="noStrike" spc="-1" dirty="0" err="1">
                <a:solidFill>
                  <a:srgbClr val="4A5568"/>
                </a:solidFill>
                <a:latin typeface="Calibri"/>
                <a:ea typeface="Calibri"/>
              </a:rPr>
              <a:t>użytkownik</a:t>
            </a:r>
            <a:endParaRPr lang="en-US" sz="1200" b="1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Shape 0"/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C41E3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720" rIns="90000" bIns="972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Text 1"/>
          <p:cNvSpPr/>
          <p:nvPr/>
        </p:nvSpPr>
        <p:spPr>
          <a:xfrm>
            <a:off x="731520" y="228600"/>
            <a:ext cx="76806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strike="noStrike" spc="-1">
                <a:solidFill>
                  <a:srgbClr val="FFFFFF"/>
                </a:solidFill>
                <a:latin typeface="Arial Black"/>
                <a:ea typeface="Arial Black"/>
              </a:rPr>
              <a:t>Jak to działa? 3 proste kroki</a:t>
            </a:r>
            <a:endParaRPr lang="en-US" sz="30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" name="Shape 2"/>
          <p:cNvSpPr/>
          <p:nvPr/>
        </p:nvSpPr>
        <p:spPr>
          <a:xfrm>
            <a:off x="731520" y="1051560"/>
            <a:ext cx="7680600" cy="1096920"/>
          </a:xfrm>
          <a:prstGeom prst="rect">
            <a:avLst/>
          </a:prstGeom>
          <a:solidFill>
            <a:srgbClr val="243556"/>
          </a:solidFill>
          <a:ln w="0">
            <a:noFill/>
          </a:ln>
          <a:effectLst>
            <a:outerShdw blurRad="1015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" name="Shape 3"/>
          <p:cNvSpPr/>
          <p:nvPr/>
        </p:nvSpPr>
        <p:spPr>
          <a:xfrm>
            <a:off x="960120" y="1252800"/>
            <a:ext cx="685440" cy="685440"/>
          </a:xfrm>
          <a:prstGeom prst="ellipse">
            <a:avLst/>
          </a:prstGeom>
          <a:solidFill>
            <a:srgbClr val="C41E3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" name="Text 4"/>
          <p:cNvSpPr/>
          <p:nvPr/>
        </p:nvSpPr>
        <p:spPr>
          <a:xfrm>
            <a:off x="960120" y="1252800"/>
            <a:ext cx="68544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0" strike="noStrike" spc="-1">
                <a:solidFill>
                  <a:srgbClr val="FFFFFF"/>
                </a:solidFill>
                <a:latin typeface="Arial Black"/>
                <a:ea typeface="Arial Black"/>
              </a:rPr>
              <a:t>1</a:t>
            </a:r>
            <a:endParaRPr lang="en-US" sz="2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" name="Text 5"/>
          <p:cNvSpPr/>
          <p:nvPr/>
        </p:nvSpPr>
        <p:spPr>
          <a:xfrm>
            <a:off x="1920240" y="1143000"/>
            <a:ext cx="62175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strike="noStrike" spc="-1">
                <a:solidFill>
                  <a:srgbClr val="FFFFFF"/>
                </a:solidFill>
                <a:latin typeface="Calibri"/>
                <a:ea typeface="Calibri"/>
              </a:rPr>
              <a:t>Weryfikacja wieku</a:t>
            </a:r>
            <a:endParaRPr lang="en-US" sz="17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 6"/>
          <p:cNvSpPr/>
          <p:nvPr/>
        </p:nvSpPr>
        <p:spPr>
          <a:xfrm>
            <a:off x="1920240" y="1508760"/>
            <a:ext cx="621756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spc="-1">
                <a:solidFill>
                  <a:srgbClr val="8892A0"/>
                </a:solidFill>
                <a:latin typeface="Calibri"/>
                <a:ea typeface="Calibri"/>
              </a:rPr>
              <a:t>Otwierasz mObywatel. Twój telefon generuje losowy token i chowa go w kryptograficznej kopercie. Rząd A sprawdza Twój wiek i podpisuje kopertę — nie widząc co jest w środku.</a:t>
            </a:r>
            <a:endParaRPr lang="en-US" sz="1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" name="Shape 7"/>
          <p:cNvSpPr/>
          <p:nvPr/>
        </p:nvSpPr>
        <p:spPr>
          <a:xfrm>
            <a:off x="731520" y="2331720"/>
            <a:ext cx="7680600" cy="1096920"/>
          </a:xfrm>
          <a:prstGeom prst="rect">
            <a:avLst/>
          </a:prstGeom>
          <a:solidFill>
            <a:srgbClr val="243556"/>
          </a:solidFill>
          <a:ln w="0">
            <a:noFill/>
          </a:ln>
          <a:effectLst>
            <a:outerShdw blurRad="1015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" name="Shape 8"/>
          <p:cNvSpPr/>
          <p:nvPr/>
        </p:nvSpPr>
        <p:spPr>
          <a:xfrm>
            <a:off x="960120" y="2532960"/>
            <a:ext cx="685440" cy="685440"/>
          </a:xfrm>
          <a:prstGeom prst="ellipse">
            <a:avLst/>
          </a:prstGeom>
          <a:solidFill>
            <a:srgbClr val="2968A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" name="Text 9"/>
          <p:cNvSpPr/>
          <p:nvPr/>
        </p:nvSpPr>
        <p:spPr>
          <a:xfrm>
            <a:off x="960120" y="2532960"/>
            <a:ext cx="68544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0" strike="noStrike" spc="-1">
                <a:solidFill>
                  <a:srgbClr val="FFFFFF"/>
                </a:solidFill>
                <a:latin typeface="Arial Black"/>
                <a:ea typeface="Arial Black"/>
              </a:rPr>
              <a:t>2</a:t>
            </a:r>
            <a:endParaRPr lang="en-US" sz="2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Text 10"/>
          <p:cNvSpPr/>
          <p:nvPr/>
        </p:nvSpPr>
        <p:spPr>
          <a:xfrm>
            <a:off x="1920240" y="2423160"/>
            <a:ext cx="62175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strike="noStrike" spc="-1">
                <a:solidFill>
                  <a:srgbClr val="FFFFFF"/>
                </a:solidFill>
                <a:latin typeface="Calibri"/>
                <a:ea typeface="Calibri"/>
              </a:rPr>
              <a:t>Pobranie kodu</a:t>
            </a:r>
            <a:endParaRPr lang="en-US" sz="17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Text 11"/>
          <p:cNvSpPr/>
          <p:nvPr/>
        </p:nvSpPr>
        <p:spPr>
          <a:xfrm>
            <a:off x="1920240" y="2788920"/>
            <a:ext cx="621756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spc="-1">
                <a:solidFill>
                  <a:srgbClr val="8892A0"/>
                </a:solidFill>
                <a:latin typeface="Calibri"/>
                <a:ea typeface="Calibri"/>
              </a:rPr>
              <a:t>Wysyłasz podpisany token (bez PESELu!) do Rządu B. NASK weryfikuje podpis, generuje jednorazowy 6-cyfrowy kod ważny 5 minut. Nie wie kim jesteś.</a:t>
            </a:r>
            <a:endParaRPr lang="en-US" sz="1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Shape 12"/>
          <p:cNvSpPr/>
          <p:nvPr/>
        </p:nvSpPr>
        <p:spPr>
          <a:xfrm>
            <a:off x="731520" y="3611880"/>
            <a:ext cx="7680600" cy="1096920"/>
          </a:xfrm>
          <a:prstGeom prst="rect">
            <a:avLst/>
          </a:prstGeom>
          <a:solidFill>
            <a:srgbClr val="243556"/>
          </a:solidFill>
          <a:ln w="0">
            <a:noFill/>
          </a:ln>
          <a:effectLst>
            <a:outerShdw blurRad="1015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" name="Shape 13"/>
          <p:cNvSpPr/>
          <p:nvPr/>
        </p:nvSpPr>
        <p:spPr>
          <a:xfrm>
            <a:off x="960120" y="3813120"/>
            <a:ext cx="685440" cy="685440"/>
          </a:xfrm>
          <a:prstGeom prst="ellipse">
            <a:avLst/>
          </a:prstGeom>
          <a:solidFill>
            <a:srgbClr val="2E7D3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 14"/>
          <p:cNvSpPr/>
          <p:nvPr/>
        </p:nvSpPr>
        <p:spPr>
          <a:xfrm>
            <a:off x="960120" y="3813120"/>
            <a:ext cx="68544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0" strike="noStrike" spc="-1">
                <a:solidFill>
                  <a:srgbClr val="FFFFFF"/>
                </a:solidFill>
                <a:latin typeface="Arial Black"/>
                <a:ea typeface="Arial Black"/>
              </a:rPr>
              <a:t>3</a:t>
            </a:r>
            <a:endParaRPr lang="en-US" sz="2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" name="Text 15"/>
          <p:cNvSpPr/>
          <p:nvPr/>
        </p:nvSpPr>
        <p:spPr>
          <a:xfrm>
            <a:off x="1920240" y="3703320"/>
            <a:ext cx="62175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strike="noStrike" spc="-1">
                <a:solidFill>
                  <a:srgbClr val="FFFFFF"/>
                </a:solidFill>
                <a:latin typeface="Calibri"/>
                <a:ea typeface="Calibri"/>
              </a:rPr>
              <a:t>Wejście na stronę</a:t>
            </a:r>
            <a:endParaRPr lang="en-US" sz="17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" name="Text 16"/>
          <p:cNvSpPr/>
          <p:nvPr/>
        </p:nvSpPr>
        <p:spPr>
          <a:xfrm>
            <a:off x="1920240" y="4069080"/>
            <a:ext cx="621756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spc="-1">
                <a:solidFill>
                  <a:srgbClr val="8892A0"/>
                </a:solidFill>
                <a:latin typeface="Calibri"/>
                <a:ea typeface="Calibri"/>
              </a:rPr>
              <a:t>Wpisujesz kod na stronie 18+. Strona pyta Rząd B: ważny? Odpowiedź: TAK. Kod spalony. Strona nie zna Twojej tożsamości.</a:t>
            </a:r>
            <a:endParaRPr lang="en-US" sz="12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0"/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C41E3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720" rIns="90000" bIns="972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" name="Text 1"/>
          <p:cNvSpPr/>
          <p:nvPr/>
        </p:nvSpPr>
        <p:spPr>
          <a:xfrm>
            <a:off x="731520" y="274320"/>
            <a:ext cx="76806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strike="noStrike" spc="-1" dirty="0">
                <a:solidFill>
                  <a:srgbClr val="1A2744"/>
                </a:solidFill>
                <a:latin typeface="Arial Black"/>
                <a:ea typeface="Arial Black"/>
              </a:rPr>
              <a:t>Analogia z </a:t>
            </a:r>
            <a:r>
              <a:rPr lang="en-US" sz="3000" b="1" strike="noStrike" spc="-1" dirty="0" err="1">
                <a:solidFill>
                  <a:srgbClr val="1A2744"/>
                </a:solidFill>
                <a:latin typeface="Arial Black"/>
                <a:ea typeface="Arial Black"/>
              </a:rPr>
              <a:t>kopertą</a:t>
            </a:r>
            <a:r>
              <a:rPr lang="en-US" sz="3000" b="1" strike="noStrike" spc="-1" dirty="0">
                <a:solidFill>
                  <a:srgbClr val="1A2744"/>
                </a:solidFill>
                <a:latin typeface="Arial Black"/>
                <a:ea typeface="Arial Black"/>
              </a:rPr>
              <a:t> </a:t>
            </a:r>
            <a:r>
              <a:rPr lang="en-US" sz="3000" b="1" strike="noStrike" spc="-1" dirty="0" err="1">
                <a:solidFill>
                  <a:srgbClr val="1A2744"/>
                </a:solidFill>
                <a:latin typeface="Arial Black"/>
                <a:ea typeface="Arial Black"/>
              </a:rPr>
              <a:t>i</a:t>
            </a:r>
            <a:r>
              <a:rPr lang="en-US" sz="3000" b="1" strike="noStrike" spc="-1" dirty="0">
                <a:solidFill>
                  <a:srgbClr val="1A2744"/>
                </a:solidFill>
                <a:latin typeface="Arial Black"/>
                <a:ea typeface="Arial Black"/>
              </a:rPr>
              <a:t> </a:t>
            </a:r>
            <a:r>
              <a:rPr lang="en-US" sz="3000" b="1" strike="noStrike" spc="-1" dirty="0" err="1">
                <a:solidFill>
                  <a:srgbClr val="1A2744"/>
                </a:solidFill>
                <a:latin typeface="Arial Black"/>
                <a:ea typeface="Arial Black"/>
              </a:rPr>
              <a:t>kalką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Shape 2"/>
          <p:cNvSpPr/>
          <p:nvPr/>
        </p:nvSpPr>
        <p:spPr>
          <a:xfrm>
            <a:off x="731520" y="1097280"/>
            <a:ext cx="7680600" cy="34743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blurRad="1015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Shape 3"/>
          <p:cNvSpPr/>
          <p:nvPr/>
        </p:nvSpPr>
        <p:spPr>
          <a:xfrm>
            <a:off x="731520" y="1097280"/>
            <a:ext cx="91080" cy="3474360"/>
          </a:xfrm>
          <a:prstGeom prst="rect">
            <a:avLst/>
          </a:prstGeom>
          <a:solidFill>
            <a:srgbClr val="F9A82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Shape 4"/>
          <p:cNvSpPr/>
          <p:nvPr/>
        </p:nvSpPr>
        <p:spPr>
          <a:xfrm>
            <a:off x="1097280" y="1325880"/>
            <a:ext cx="365400" cy="365400"/>
          </a:xfrm>
          <a:prstGeom prst="ellipse">
            <a:avLst/>
          </a:prstGeom>
          <a:solidFill>
            <a:srgbClr val="1A2744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" name="Text 5"/>
          <p:cNvSpPr/>
          <p:nvPr/>
        </p:nvSpPr>
        <p:spPr>
          <a:xfrm>
            <a:off x="1097280" y="132588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Text 6"/>
          <p:cNvSpPr/>
          <p:nvPr/>
        </p:nvSpPr>
        <p:spPr>
          <a:xfrm>
            <a:off x="1645920" y="1240522"/>
            <a:ext cx="649188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strike="noStrike" spc="-1" dirty="0" err="1">
                <a:solidFill>
                  <a:srgbClr val="4A5568"/>
                </a:solidFill>
                <a:latin typeface="Calibri"/>
                <a:ea typeface="Calibri"/>
              </a:rPr>
              <a:t>Piszesz</a:t>
            </a:r>
            <a:r>
              <a:rPr lang="en-US" sz="1300" b="0" strike="noStrike" spc="-1" dirty="0">
                <a:solidFill>
                  <a:srgbClr val="4A5568"/>
                </a:solidFill>
                <a:latin typeface="Calibri"/>
                <a:ea typeface="Calibri"/>
              </a:rPr>
              <a:t> </a:t>
            </a:r>
            <a:r>
              <a:rPr lang="en-US" sz="1300" b="0" strike="noStrike" spc="-1" dirty="0" err="1">
                <a:solidFill>
                  <a:srgbClr val="4A5568"/>
                </a:solidFill>
                <a:latin typeface="Calibri"/>
                <a:ea typeface="Calibri"/>
              </a:rPr>
              <a:t>tajny</a:t>
            </a:r>
            <a:r>
              <a:rPr lang="en-US" sz="1300" b="0" strike="noStrike" spc="-1" dirty="0">
                <a:solidFill>
                  <a:srgbClr val="4A5568"/>
                </a:solidFill>
                <a:latin typeface="Calibri"/>
                <a:ea typeface="Calibri"/>
              </a:rPr>
              <a:t> </a:t>
            </a:r>
            <a:r>
              <a:rPr lang="en-US" sz="1300" b="0" strike="noStrike" spc="-1" dirty="0" err="1">
                <a:solidFill>
                  <a:srgbClr val="4A5568"/>
                </a:solidFill>
                <a:latin typeface="Calibri"/>
                <a:ea typeface="Calibri"/>
              </a:rPr>
              <a:t>numer</a:t>
            </a:r>
            <a:r>
              <a:rPr lang="en-US" sz="1300" b="0" strike="noStrike" spc="-1" dirty="0">
                <a:solidFill>
                  <a:srgbClr val="4A5568"/>
                </a:solidFill>
                <a:latin typeface="Calibri"/>
                <a:ea typeface="Calibri"/>
              </a:rPr>
              <a:t> </a:t>
            </a:r>
            <a:r>
              <a:rPr lang="en-US" sz="1300" b="0" strike="noStrike" spc="-1" dirty="0" err="1">
                <a:solidFill>
                  <a:srgbClr val="4A5568"/>
                </a:solidFill>
                <a:latin typeface="Calibri"/>
                <a:ea typeface="Calibri"/>
              </a:rPr>
              <a:t>na</a:t>
            </a:r>
            <a:r>
              <a:rPr lang="en-US" sz="1300" b="0" strike="noStrike" spc="-1" dirty="0">
                <a:solidFill>
                  <a:srgbClr val="4A5568"/>
                </a:solidFill>
                <a:latin typeface="Calibri"/>
                <a:ea typeface="Calibri"/>
              </a:rPr>
              <a:t> </a:t>
            </a:r>
            <a:r>
              <a:rPr lang="en-US" sz="1300" b="0" strike="noStrike" spc="-1" dirty="0" err="1">
                <a:solidFill>
                  <a:srgbClr val="4A5568"/>
                </a:solidFill>
                <a:latin typeface="Calibri"/>
                <a:ea typeface="Calibri"/>
              </a:rPr>
              <a:t>kartce</a:t>
            </a:r>
            <a:endParaRPr lang="en-US" sz="13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Shape 7"/>
          <p:cNvSpPr/>
          <p:nvPr/>
        </p:nvSpPr>
        <p:spPr>
          <a:xfrm>
            <a:off x="1097280" y="1947600"/>
            <a:ext cx="365400" cy="365400"/>
          </a:xfrm>
          <a:prstGeom prst="ellipse">
            <a:avLst/>
          </a:prstGeom>
          <a:solidFill>
            <a:srgbClr val="1A2744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" name="Text 8"/>
          <p:cNvSpPr/>
          <p:nvPr/>
        </p:nvSpPr>
        <p:spPr>
          <a:xfrm>
            <a:off x="1097280" y="194760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Text 9"/>
          <p:cNvSpPr/>
          <p:nvPr/>
        </p:nvSpPr>
        <p:spPr>
          <a:xfrm>
            <a:off x="1645920" y="1862242"/>
            <a:ext cx="649188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strike="noStrike" spc="-1" dirty="0" err="1">
                <a:solidFill>
                  <a:srgbClr val="4A5568"/>
                </a:solidFill>
                <a:latin typeface="Calibri"/>
                <a:ea typeface="Calibri"/>
              </a:rPr>
              <a:t>Wkładasz</a:t>
            </a:r>
            <a:r>
              <a:rPr lang="en-US" sz="1300" b="0" strike="noStrike" spc="-1" dirty="0">
                <a:solidFill>
                  <a:srgbClr val="4A5568"/>
                </a:solidFill>
                <a:latin typeface="Calibri"/>
                <a:ea typeface="Calibri"/>
              </a:rPr>
              <a:t> </a:t>
            </a:r>
            <a:r>
              <a:rPr lang="en-US" sz="1300" b="0" strike="noStrike" spc="-1" dirty="0" err="1">
                <a:solidFill>
                  <a:srgbClr val="4A5568"/>
                </a:solidFill>
                <a:latin typeface="Calibri"/>
                <a:ea typeface="Calibri"/>
              </a:rPr>
              <a:t>kartkę</a:t>
            </a:r>
            <a:r>
              <a:rPr lang="en-US" sz="1300" b="0" strike="noStrike" spc="-1" dirty="0">
                <a:solidFill>
                  <a:srgbClr val="4A5568"/>
                </a:solidFill>
                <a:latin typeface="Calibri"/>
                <a:ea typeface="Calibri"/>
              </a:rPr>
              <a:t> do </a:t>
            </a:r>
            <a:r>
              <a:rPr lang="en-US" sz="1300" b="0" strike="noStrike" spc="-1" dirty="0" err="1">
                <a:solidFill>
                  <a:srgbClr val="4A5568"/>
                </a:solidFill>
                <a:latin typeface="Calibri"/>
                <a:ea typeface="Calibri"/>
              </a:rPr>
              <a:t>nieprzezroczystej</a:t>
            </a:r>
            <a:r>
              <a:rPr lang="en-US" sz="1300" b="0" strike="noStrike" spc="-1" dirty="0">
                <a:solidFill>
                  <a:srgbClr val="4A5568"/>
                </a:solidFill>
                <a:latin typeface="Calibri"/>
                <a:ea typeface="Calibri"/>
              </a:rPr>
              <a:t> </a:t>
            </a:r>
            <a:r>
              <a:rPr lang="en-US" sz="1300" b="0" strike="noStrike" spc="-1" dirty="0" err="1">
                <a:solidFill>
                  <a:srgbClr val="4A5568"/>
                </a:solidFill>
                <a:latin typeface="Calibri"/>
                <a:ea typeface="Calibri"/>
              </a:rPr>
              <a:t>koperty</a:t>
            </a:r>
            <a:r>
              <a:rPr lang="en-US" sz="1300" b="0" strike="noStrike" spc="-1" dirty="0">
                <a:solidFill>
                  <a:srgbClr val="4A5568"/>
                </a:solidFill>
                <a:latin typeface="Calibri"/>
                <a:ea typeface="Calibri"/>
              </a:rPr>
              <a:t> z </a:t>
            </a:r>
            <a:r>
              <a:rPr lang="en-US" sz="1300" b="0" strike="noStrike" spc="-1" dirty="0" err="1">
                <a:solidFill>
                  <a:srgbClr val="4A5568"/>
                </a:solidFill>
                <a:latin typeface="Calibri"/>
                <a:ea typeface="Calibri"/>
              </a:rPr>
              <a:t>kalką</a:t>
            </a:r>
            <a:r>
              <a:rPr lang="en-US" sz="1300" b="0" strike="noStrike" spc="-1" dirty="0">
                <a:solidFill>
                  <a:srgbClr val="4A5568"/>
                </a:solidFill>
                <a:latin typeface="Calibri"/>
                <a:ea typeface="Calibri"/>
              </a:rPr>
              <a:t> w </a:t>
            </a:r>
            <a:r>
              <a:rPr lang="en-US" sz="1300" b="0" strike="noStrike" spc="-1" dirty="0" err="1">
                <a:solidFill>
                  <a:srgbClr val="4A5568"/>
                </a:solidFill>
                <a:latin typeface="Calibri"/>
                <a:ea typeface="Calibri"/>
              </a:rPr>
              <a:t>środku</a:t>
            </a:r>
            <a:endParaRPr lang="en-US" sz="13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Shape 10"/>
          <p:cNvSpPr/>
          <p:nvPr/>
        </p:nvSpPr>
        <p:spPr>
          <a:xfrm>
            <a:off x="1097280" y="2569320"/>
            <a:ext cx="365400" cy="365400"/>
          </a:xfrm>
          <a:prstGeom prst="ellipse">
            <a:avLst/>
          </a:prstGeom>
          <a:solidFill>
            <a:srgbClr val="1A2744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" name="Text 11"/>
          <p:cNvSpPr/>
          <p:nvPr/>
        </p:nvSpPr>
        <p:spPr>
          <a:xfrm>
            <a:off x="1097280" y="256932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Text 12"/>
          <p:cNvSpPr/>
          <p:nvPr/>
        </p:nvSpPr>
        <p:spPr>
          <a:xfrm>
            <a:off x="1645920" y="2510641"/>
            <a:ext cx="649188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strike="noStrike" spc="-1" dirty="0" err="1">
                <a:solidFill>
                  <a:srgbClr val="C41E3A"/>
                </a:solidFill>
                <a:latin typeface="Calibri"/>
                <a:ea typeface="Calibri"/>
              </a:rPr>
              <a:t>Urzędnik</a:t>
            </a:r>
            <a:r>
              <a:rPr lang="en-US" sz="1300" b="0" strike="noStrike" spc="-1" dirty="0">
                <a:solidFill>
                  <a:srgbClr val="C41E3A"/>
                </a:solidFill>
                <a:latin typeface="Calibri"/>
                <a:ea typeface="Calibri"/>
              </a:rPr>
              <a:t> (</a:t>
            </a:r>
            <a:r>
              <a:rPr lang="en-US" sz="1300" b="0" strike="noStrike" spc="-1" dirty="0" err="1">
                <a:solidFill>
                  <a:srgbClr val="C41E3A"/>
                </a:solidFill>
                <a:latin typeface="Calibri"/>
                <a:ea typeface="Calibri"/>
              </a:rPr>
              <a:t>Rząd</a:t>
            </a:r>
            <a:r>
              <a:rPr lang="en-US" sz="1300" b="0" strike="noStrike" spc="-1" dirty="0">
                <a:solidFill>
                  <a:srgbClr val="C41E3A"/>
                </a:solidFill>
                <a:latin typeface="Calibri"/>
                <a:ea typeface="Calibri"/>
              </a:rPr>
              <a:t> A) </a:t>
            </a:r>
            <a:r>
              <a:rPr lang="en-US" sz="1300" b="0" strike="noStrike" spc="-1" dirty="0" err="1">
                <a:solidFill>
                  <a:srgbClr val="C41E3A"/>
                </a:solidFill>
                <a:latin typeface="Calibri"/>
                <a:ea typeface="Calibri"/>
              </a:rPr>
              <a:t>sprawdza</a:t>
            </a:r>
            <a:r>
              <a:rPr lang="en-US" sz="1300" b="0" strike="noStrike" spc="-1" dirty="0">
                <a:solidFill>
                  <a:srgbClr val="C41E3A"/>
                </a:solidFill>
                <a:latin typeface="Calibri"/>
                <a:ea typeface="Calibri"/>
              </a:rPr>
              <a:t> </a:t>
            </a:r>
            <a:r>
              <a:rPr lang="en-US" sz="1300" b="0" strike="noStrike" spc="-1" dirty="0" err="1">
                <a:solidFill>
                  <a:srgbClr val="C41E3A"/>
                </a:solidFill>
                <a:latin typeface="Calibri"/>
                <a:ea typeface="Calibri"/>
              </a:rPr>
              <a:t>Twój</a:t>
            </a:r>
            <a:r>
              <a:rPr lang="en-US" sz="1300" b="0" strike="noStrike" spc="-1" dirty="0">
                <a:solidFill>
                  <a:srgbClr val="C41E3A"/>
                </a:solidFill>
                <a:latin typeface="Calibri"/>
                <a:ea typeface="Calibri"/>
              </a:rPr>
              <a:t> </a:t>
            </a:r>
            <a:r>
              <a:rPr lang="en-US" sz="1300" b="0" strike="noStrike" spc="-1" dirty="0" err="1">
                <a:solidFill>
                  <a:srgbClr val="C41E3A"/>
                </a:solidFill>
                <a:latin typeface="Calibri"/>
                <a:ea typeface="Calibri"/>
              </a:rPr>
              <a:t>dowód</a:t>
            </a:r>
            <a:r>
              <a:rPr lang="en-US" sz="1300" b="0" strike="noStrike" spc="-1" dirty="0">
                <a:solidFill>
                  <a:srgbClr val="C41E3A"/>
                </a:solidFill>
                <a:latin typeface="Calibri"/>
                <a:ea typeface="Calibri"/>
              </a:rPr>
              <a:t>, </a:t>
            </a:r>
            <a:r>
              <a:rPr lang="en-US" sz="1300" b="0" strike="noStrike" spc="-1" dirty="0" err="1">
                <a:solidFill>
                  <a:srgbClr val="C41E3A"/>
                </a:solidFill>
                <a:latin typeface="Calibri"/>
                <a:ea typeface="Calibri"/>
              </a:rPr>
              <a:t>podpisuje</a:t>
            </a:r>
            <a:r>
              <a:rPr lang="en-US" sz="1300" b="0" strike="noStrike" spc="-1" dirty="0">
                <a:solidFill>
                  <a:srgbClr val="C41E3A"/>
                </a:solidFill>
                <a:latin typeface="Calibri"/>
                <a:ea typeface="Calibri"/>
              </a:rPr>
              <a:t> </a:t>
            </a:r>
            <a:r>
              <a:rPr lang="en-US" sz="1300" b="0" strike="noStrike" spc="-1" dirty="0" err="1">
                <a:solidFill>
                  <a:srgbClr val="C41E3A"/>
                </a:solidFill>
                <a:latin typeface="Calibri"/>
                <a:ea typeface="Calibri"/>
              </a:rPr>
              <a:t>kopertę</a:t>
            </a:r>
            <a:r>
              <a:rPr lang="en-US" sz="1300" b="0" strike="noStrike" spc="-1" dirty="0">
                <a:solidFill>
                  <a:srgbClr val="C41E3A"/>
                </a:solidFill>
                <a:latin typeface="Calibri"/>
                <a:ea typeface="Calibri"/>
              </a:rPr>
              <a:t> — </a:t>
            </a:r>
            <a:r>
              <a:rPr lang="en-US" sz="1300" b="0" strike="noStrike" spc="-1" dirty="0" err="1">
                <a:solidFill>
                  <a:srgbClr val="C41E3A"/>
                </a:solidFill>
                <a:latin typeface="Calibri"/>
                <a:ea typeface="Calibri"/>
              </a:rPr>
              <a:t>podpis</a:t>
            </a:r>
            <a:r>
              <a:rPr lang="en-US" sz="1300" b="0" strike="noStrike" spc="-1" dirty="0">
                <a:solidFill>
                  <a:srgbClr val="C41E3A"/>
                </a:solidFill>
                <a:latin typeface="Calibri"/>
                <a:ea typeface="Calibri"/>
              </a:rPr>
              <a:t> </a:t>
            </a:r>
            <a:r>
              <a:rPr lang="en-US" sz="1300" b="0" strike="noStrike" spc="-1" dirty="0" err="1">
                <a:solidFill>
                  <a:srgbClr val="C41E3A"/>
                </a:solidFill>
                <a:latin typeface="Calibri"/>
                <a:ea typeface="Calibri"/>
              </a:rPr>
              <a:t>przechodzi</a:t>
            </a:r>
            <a:r>
              <a:rPr lang="en-US" sz="1300" b="0" strike="noStrike" spc="-1" dirty="0">
                <a:solidFill>
                  <a:srgbClr val="C41E3A"/>
                </a:solidFill>
                <a:latin typeface="Calibri"/>
                <a:ea typeface="Calibri"/>
              </a:rPr>
              <a:t> </a:t>
            </a:r>
            <a:r>
              <a:rPr lang="en-US" sz="1300" b="0" strike="noStrike" spc="-1" dirty="0" err="1">
                <a:solidFill>
                  <a:srgbClr val="C41E3A"/>
                </a:solidFill>
                <a:latin typeface="Calibri"/>
                <a:ea typeface="Calibri"/>
              </a:rPr>
              <a:t>przez</a:t>
            </a:r>
            <a:r>
              <a:rPr lang="en-US" sz="1300" b="0" strike="noStrike" spc="-1" dirty="0">
                <a:solidFill>
                  <a:srgbClr val="C41E3A"/>
                </a:solidFill>
                <a:latin typeface="Calibri"/>
                <a:ea typeface="Calibri"/>
              </a:rPr>
              <a:t> </a:t>
            </a:r>
            <a:r>
              <a:rPr lang="en-US" sz="1300" b="0" strike="noStrike" spc="-1" dirty="0" err="1">
                <a:solidFill>
                  <a:srgbClr val="C41E3A"/>
                </a:solidFill>
                <a:latin typeface="Calibri"/>
                <a:ea typeface="Calibri"/>
              </a:rPr>
              <a:t>kalkę</a:t>
            </a:r>
            <a:r>
              <a:rPr lang="en-US" sz="1300" b="0" strike="noStrike" spc="-1" dirty="0">
                <a:solidFill>
                  <a:srgbClr val="C41E3A"/>
                </a:solidFill>
                <a:latin typeface="Calibri"/>
                <a:ea typeface="Calibri"/>
              </a:rPr>
              <a:t> </a:t>
            </a:r>
            <a:r>
              <a:rPr lang="en-US" sz="1300" b="0" strike="noStrike" spc="-1" dirty="0" err="1">
                <a:solidFill>
                  <a:srgbClr val="C41E3A"/>
                </a:solidFill>
                <a:latin typeface="Calibri"/>
                <a:ea typeface="Calibri"/>
              </a:rPr>
              <a:t>na</a:t>
            </a:r>
            <a:r>
              <a:rPr lang="en-US" sz="1300" b="0" strike="noStrike" spc="-1" dirty="0">
                <a:solidFill>
                  <a:srgbClr val="C41E3A"/>
                </a:solidFill>
                <a:latin typeface="Calibri"/>
                <a:ea typeface="Calibri"/>
              </a:rPr>
              <a:t> </a:t>
            </a:r>
            <a:r>
              <a:rPr lang="en-US" sz="1300" b="0" strike="noStrike" spc="-1" dirty="0" err="1">
                <a:solidFill>
                  <a:srgbClr val="C41E3A"/>
                </a:solidFill>
                <a:latin typeface="Calibri"/>
                <a:ea typeface="Calibri"/>
              </a:rPr>
              <a:t>kartkę</a:t>
            </a:r>
            <a:r>
              <a:rPr lang="en-US" sz="1300" b="0" strike="noStrike" spc="-1" dirty="0">
                <a:solidFill>
                  <a:srgbClr val="C41E3A"/>
                </a:solidFill>
                <a:latin typeface="Calibri"/>
                <a:ea typeface="Calibri"/>
              </a:rPr>
              <a:t>, ale </a:t>
            </a:r>
            <a:r>
              <a:rPr lang="en-US" sz="1300" b="0" strike="noStrike" spc="-1" dirty="0" err="1">
                <a:solidFill>
                  <a:srgbClr val="C41E3A"/>
                </a:solidFill>
                <a:latin typeface="Calibri"/>
                <a:ea typeface="Calibri"/>
              </a:rPr>
              <a:t>urzędnik</a:t>
            </a:r>
            <a:r>
              <a:rPr lang="en-US" sz="1300" b="0" strike="noStrike" spc="-1" dirty="0">
                <a:solidFill>
                  <a:srgbClr val="C41E3A"/>
                </a:solidFill>
                <a:latin typeface="Calibri"/>
                <a:ea typeface="Calibri"/>
              </a:rPr>
              <a:t> </a:t>
            </a:r>
            <a:r>
              <a:rPr lang="en-US" sz="1300" b="0" strike="noStrike" spc="-1" dirty="0" err="1">
                <a:solidFill>
                  <a:srgbClr val="C41E3A"/>
                </a:solidFill>
                <a:latin typeface="Calibri"/>
                <a:ea typeface="Calibri"/>
              </a:rPr>
              <a:t>nie</a:t>
            </a:r>
            <a:r>
              <a:rPr lang="en-US" sz="1300" b="0" strike="noStrike" spc="-1" dirty="0">
                <a:solidFill>
                  <a:srgbClr val="C41E3A"/>
                </a:solidFill>
                <a:latin typeface="Calibri"/>
                <a:ea typeface="Calibri"/>
              </a:rPr>
              <a:t> </a:t>
            </a:r>
            <a:r>
              <a:rPr lang="en-US" sz="1300" b="0" strike="noStrike" spc="-1" dirty="0" err="1">
                <a:solidFill>
                  <a:srgbClr val="C41E3A"/>
                </a:solidFill>
                <a:latin typeface="Calibri"/>
                <a:ea typeface="Calibri"/>
              </a:rPr>
              <a:t>widzi</a:t>
            </a:r>
            <a:r>
              <a:rPr lang="en-US" sz="1300" b="0" strike="noStrike" spc="-1" dirty="0">
                <a:solidFill>
                  <a:srgbClr val="C41E3A"/>
                </a:solidFill>
                <a:latin typeface="Calibri"/>
                <a:ea typeface="Calibri"/>
              </a:rPr>
              <a:t> co jest w </a:t>
            </a:r>
            <a:r>
              <a:rPr lang="en-US" sz="1300" b="0" strike="noStrike" spc="-1" dirty="0" err="1">
                <a:solidFill>
                  <a:srgbClr val="C41E3A"/>
                </a:solidFill>
                <a:latin typeface="Calibri"/>
                <a:ea typeface="Calibri"/>
              </a:rPr>
              <a:t>środku</a:t>
            </a:r>
            <a:endParaRPr lang="en-US" sz="13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Shape 13"/>
          <p:cNvSpPr/>
          <p:nvPr/>
        </p:nvSpPr>
        <p:spPr>
          <a:xfrm>
            <a:off x="1097280" y="3191400"/>
            <a:ext cx="365400" cy="365400"/>
          </a:xfrm>
          <a:prstGeom prst="ellipse">
            <a:avLst/>
          </a:prstGeom>
          <a:solidFill>
            <a:srgbClr val="1A2744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" name="Text 14"/>
          <p:cNvSpPr/>
          <p:nvPr/>
        </p:nvSpPr>
        <p:spPr>
          <a:xfrm>
            <a:off x="1097280" y="319140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Text 15"/>
          <p:cNvSpPr/>
          <p:nvPr/>
        </p:nvSpPr>
        <p:spPr>
          <a:xfrm>
            <a:off x="1645920" y="3103901"/>
            <a:ext cx="649188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strike="noStrike" spc="-1" dirty="0" err="1">
                <a:solidFill>
                  <a:srgbClr val="2E7D32"/>
                </a:solidFill>
                <a:latin typeface="Calibri"/>
                <a:ea typeface="Calibri"/>
              </a:rPr>
              <a:t>Otwierasz</a:t>
            </a:r>
            <a:r>
              <a:rPr lang="en-US" sz="1300" b="0" strike="noStrike" spc="-1" dirty="0">
                <a:solidFill>
                  <a:srgbClr val="2E7D32"/>
                </a:solidFill>
                <a:latin typeface="Calibri"/>
                <a:ea typeface="Calibri"/>
              </a:rPr>
              <a:t> </a:t>
            </a:r>
            <a:r>
              <a:rPr lang="en-US" sz="1300" b="0" strike="noStrike" spc="-1" dirty="0" err="1">
                <a:solidFill>
                  <a:srgbClr val="2E7D32"/>
                </a:solidFill>
                <a:latin typeface="Calibri"/>
                <a:ea typeface="Calibri"/>
              </a:rPr>
              <a:t>kopertę</a:t>
            </a:r>
            <a:r>
              <a:rPr lang="en-US" sz="1300" b="0" strike="noStrike" spc="-1" dirty="0">
                <a:solidFill>
                  <a:srgbClr val="2E7D32"/>
                </a:solidFill>
                <a:latin typeface="Calibri"/>
                <a:ea typeface="Calibri"/>
              </a:rPr>
              <a:t> — </a:t>
            </a:r>
            <a:r>
              <a:rPr lang="en-US" sz="1300" b="0" strike="noStrike" spc="-1" dirty="0" err="1">
                <a:solidFill>
                  <a:srgbClr val="2E7D32"/>
                </a:solidFill>
                <a:latin typeface="Calibri"/>
                <a:ea typeface="Calibri"/>
              </a:rPr>
              <a:t>masz</a:t>
            </a:r>
            <a:r>
              <a:rPr lang="en-US" sz="1300" b="0" strike="noStrike" spc="-1" dirty="0">
                <a:solidFill>
                  <a:srgbClr val="2E7D32"/>
                </a:solidFill>
                <a:latin typeface="Calibri"/>
                <a:ea typeface="Calibri"/>
              </a:rPr>
              <a:t> </a:t>
            </a:r>
            <a:r>
              <a:rPr lang="en-US" sz="1300" b="0" strike="noStrike" spc="-1" dirty="0" err="1">
                <a:solidFill>
                  <a:srgbClr val="2E7D32"/>
                </a:solidFill>
                <a:latin typeface="Calibri"/>
                <a:ea typeface="Calibri"/>
              </a:rPr>
              <a:t>kartkę</a:t>
            </a:r>
            <a:r>
              <a:rPr lang="en-US" sz="1300" b="0" strike="noStrike" spc="-1" dirty="0">
                <a:solidFill>
                  <a:srgbClr val="2E7D32"/>
                </a:solidFill>
                <a:latin typeface="Calibri"/>
                <a:ea typeface="Calibri"/>
              </a:rPr>
              <a:t> z </a:t>
            </a:r>
            <a:r>
              <a:rPr lang="en-US" sz="1300" b="0" strike="noStrike" spc="-1" dirty="0" err="1">
                <a:solidFill>
                  <a:srgbClr val="2E7D32"/>
                </a:solidFill>
                <a:latin typeface="Calibri"/>
                <a:ea typeface="Calibri"/>
              </a:rPr>
              <a:t>Twoim</a:t>
            </a:r>
            <a:r>
              <a:rPr lang="en-US" sz="1300" b="0" strike="noStrike" spc="-1" dirty="0">
                <a:solidFill>
                  <a:srgbClr val="2E7D32"/>
                </a:solidFill>
                <a:latin typeface="Calibri"/>
                <a:ea typeface="Calibri"/>
              </a:rPr>
              <a:t> </a:t>
            </a:r>
            <a:r>
              <a:rPr lang="en-US" sz="1300" b="0" strike="noStrike" spc="-1" dirty="0" err="1">
                <a:solidFill>
                  <a:srgbClr val="2E7D32"/>
                </a:solidFill>
                <a:latin typeface="Calibri"/>
                <a:ea typeface="Calibri"/>
              </a:rPr>
              <a:t>numerem</a:t>
            </a:r>
            <a:r>
              <a:rPr lang="en-US" sz="1300" b="0" strike="noStrike" spc="-1" dirty="0">
                <a:solidFill>
                  <a:srgbClr val="2E7D32"/>
                </a:solidFill>
                <a:latin typeface="Calibri"/>
                <a:ea typeface="Calibri"/>
              </a:rPr>
              <a:t> </a:t>
            </a:r>
            <a:r>
              <a:rPr lang="en-US" sz="1300" b="0" strike="noStrike" spc="-1" dirty="0" err="1">
                <a:solidFill>
                  <a:srgbClr val="2E7D32"/>
                </a:solidFill>
                <a:latin typeface="Calibri"/>
                <a:ea typeface="Calibri"/>
              </a:rPr>
              <a:t>i</a:t>
            </a:r>
            <a:r>
              <a:rPr lang="en-US" sz="1300" b="0" strike="noStrike" spc="-1" dirty="0">
                <a:solidFill>
                  <a:srgbClr val="2E7D32"/>
                </a:solidFill>
                <a:latin typeface="Calibri"/>
                <a:ea typeface="Calibri"/>
              </a:rPr>
              <a:t> </a:t>
            </a:r>
            <a:r>
              <a:rPr lang="en-US" sz="1300" b="0" strike="noStrike" spc="-1" dirty="0" err="1">
                <a:solidFill>
                  <a:srgbClr val="2E7D32"/>
                </a:solidFill>
                <a:latin typeface="Calibri"/>
                <a:ea typeface="Calibri"/>
              </a:rPr>
              <a:t>podpisem</a:t>
            </a:r>
            <a:r>
              <a:rPr lang="en-US" sz="1300" b="0" strike="noStrike" spc="-1" dirty="0">
                <a:solidFill>
                  <a:srgbClr val="2E7D32"/>
                </a:solidFill>
                <a:latin typeface="Calibri"/>
                <a:ea typeface="Calibri"/>
              </a:rPr>
              <a:t> </a:t>
            </a:r>
            <a:r>
              <a:rPr lang="en-US" sz="1300" b="0" strike="noStrike" spc="-1" dirty="0" err="1">
                <a:solidFill>
                  <a:srgbClr val="2E7D32"/>
                </a:solidFill>
                <a:latin typeface="Calibri"/>
                <a:ea typeface="Calibri"/>
              </a:rPr>
              <a:t>urzędnika</a:t>
            </a:r>
            <a:endParaRPr lang="en-US" sz="13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Shape 16"/>
          <p:cNvSpPr/>
          <p:nvPr/>
        </p:nvSpPr>
        <p:spPr>
          <a:xfrm>
            <a:off x="1097280" y="3813120"/>
            <a:ext cx="365400" cy="365400"/>
          </a:xfrm>
          <a:prstGeom prst="ellipse">
            <a:avLst/>
          </a:prstGeom>
          <a:solidFill>
            <a:srgbClr val="1A2744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" name="Text 17"/>
          <p:cNvSpPr/>
          <p:nvPr/>
        </p:nvSpPr>
        <p:spPr>
          <a:xfrm>
            <a:off x="1097280" y="381312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rgbClr val="FFFFFF"/>
                </a:solidFill>
                <a:latin typeface="Calibri"/>
                <a:ea typeface="Calibri"/>
              </a:rPr>
              <a:t>5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Text 18"/>
          <p:cNvSpPr/>
          <p:nvPr/>
        </p:nvSpPr>
        <p:spPr>
          <a:xfrm>
            <a:off x="1645920" y="3777441"/>
            <a:ext cx="649188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strike="noStrike" spc="-1" dirty="0" err="1">
                <a:solidFill>
                  <a:srgbClr val="2968A8"/>
                </a:solidFill>
                <a:latin typeface="Calibri"/>
                <a:ea typeface="Calibri"/>
              </a:rPr>
              <a:t>Idziesz</a:t>
            </a:r>
            <a:r>
              <a:rPr lang="en-US" sz="1300" b="0" strike="noStrike" spc="-1" dirty="0">
                <a:solidFill>
                  <a:srgbClr val="2968A8"/>
                </a:solidFill>
                <a:latin typeface="Calibri"/>
                <a:ea typeface="Calibri"/>
              </a:rPr>
              <a:t> do </a:t>
            </a:r>
            <a:r>
              <a:rPr lang="en-US" sz="1300" b="0" strike="noStrike" spc="-1" dirty="0" err="1">
                <a:solidFill>
                  <a:srgbClr val="2968A8"/>
                </a:solidFill>
                <a:latin typeface="Calibri"/>
                <a:ea typeface="Calibri"/>
              </a:rPr>
              <a:t>drugiego</a:t>
            </a:r>
            <a:r>
              <a:rPr lang="en-US" sz="1300" b="0" strike="noStrike" spc="-1" dirty="0">
                <a:solidFill>
                  <a:srgbClr val="2968A8"/>
                </a:solidFill>
                <a:latin typeface="Calibri"/>
                <a:ea typeface="Calibri"/>
              </a:rPr>
              <a:t> </a:t>
            </a:r>
            <a:r>
              <a:rPr lang="en-US" sz="1300" b="0" strike="noStrike" spc="-1" dirty="0" err="1">
                <a:solidFill>
                  <a:srgbClr val="2968A8"/>
                </a:solidFill>
                <a:latin typeface="Calibri"/>
                <a:ea typeface="Calibri"/>
              </a:rPr>
              <a:t>okienka</a:t>
            </a:r>
            <a:r>
              <a:rPr lang="en-US" sz="1300" b="0" strike="noStrike" spc="-1" dirty="0">
                <a:solidFill>
                  <a:srgbClr val="2968A8"/>
                </a:solidFill>
                <a:latin typeface="Calibri"/>
                <a:ea typeface="Calibri"/>
              </a:rPr>
              <a:t> (</a:t>
            </a:r>
            <a:r>
              <a:rPr lang="en-US" sz="1300" b="0" strike="noStrike" spc="-1" dirty="0" err="1">
                <a:solidFill>
                  <a:srgbClr val="2968A8"/>
                </a:solidFill>
                <a:latin typeface="Calibri"/>
                <a:ea typeface="Calibri"/>
              </a:rPr>
              <a:t>Rząd</a:t>
            </a:r>
            <a:r>
              <a:rPr lang="en-US" sz="1300" b="0" strike="noStrike" spc="-1" dirty="0">
                <a:solidFill>
                  <a:srgbClr val="2968A8"/>
                </a:solidFill>
                <a:latin typeface="Calibri"/>
                <a:ea typeface="Calibri"/>
              </a:rPr>
              <a:t> B), </a:t>
            </a:r>
            <a:r>
              <a:rPr lang="en-US" sz="1300" b="0" strike="noStrike" spc="-1" dirty="0" err="1">
                <a:solidFill>
                  <a:srgbClr val="2968A8"/>
                </a:solidFill>
                <a:latin typeface="Calibri"/>
                <a:ea typeface="Calibri"/>
              </a:rPr>
              <a:t>pokazujesz</a:t>
            </a:r>
            <a:r>
              <a:rPr lang="en-US" sz="1300" b="0" strike="noStrike" spc="-1" dirty="0">
                <a:solidFill>
                  <a:srgbClr val="2968A8"/>
                </a:solidFill>
                <a:latin typeface="Calibri"/>
                <a:ea typeface="Calibri"/>
              </a:rPr>
              <a:t> </a:t>
            </a:r>
            <a:r>
              <a:rPr lang="en-US" sz="1300" b="0" strike="noStrike" spc="-1" dirty="0" err="1">
                <a:solidFill>
                  <a:srgbClr val="2968A8"/>
                </a:solidFill>
                <a:latin typeface="Calibri"/>
                <a:ea typeface="Calibri"/>
              </a:rPr>
              <a:t>kartkę</a:t>
            </a:r>
            <a:r>
              <a:rPr lang="en-US" sz="1300" b="0" strike="noStrike" spc="-1" dirty="0">
                <a:solidFill>
                  <a:srgbClr val="2968A8"/>
                </a:solidFill>
                <a:latin typeface="Calibri"/>
                <a:ea typeface="Calibri"/>
              </a:rPr>
              <a:t>. </a:t>
            </a:r>
            <a:r>
              <a:rPr lang="en-US" sz="1300" b="0" strike="noStrike" spc="-1" dirty="0" err="1">
                <a:solidFill>
                  <a:srgbClr val="2968A8"/>
                </a:solidFill>
                <a:latin typeface="Calibri"/>
                <a:ea typeface="Calibri"/>
              </a:rPr>
              <a:t>Drugie</a:t>
            </a:r>
            <a:r>
              <a:rPr lang="en-US" sz="1300" b="0" strike="noStrike" spc="-1" dirty="0">
                <a:solidFill>
                  <a:srgbClr val="2968A8"/>
                </a:solidFill>
                <a:latin typeface="Calibri"/>
                <a:ea typeface="Calibri"/>
              </a:rPr>
              <a:t> </a:t>
            </a:r>
            <a:r>
              <a:rPr lang="en-US" sz="1300" b="0" strike="noStrike" spc="-1" dirty="0" err="1">
                <a:solidFill>
                  <a:srgbClr val="2968A8"/>
                </a:solidFill>
                <a:latin typeface="Calibri"/>
                <a:ea typeface="Calibri"/>
              </a:rPr>
              <a:t>okienko</a:t>
            </a:r>
            <a:r>
              <a:rPr lang="en-US" sz="1300" b="0" strike="noStrike" spc="-1" dirty="0">
                <a:solidFill>
                  <a:srgbClr val="2968A8"/>
                </a:solidFill>
                <a:latin typeface="Calibri"/>
                <a:ea typeface="Calibri"/>
              </a:rPr>
              <a:t> </a:t>
            </a:r>
            <a:r>
              <a:rPr lang="en-US" sz="1300" b="0" strike="noStrike" spc="-1" dirty="0" err="1">
                <a:solidFill>
                  <a:srgbClr val="2968A8"/>
                </a:solidFill>
                <a:latin typeface="Calibri"/>
                <a:ea typeface="Calibri"/>
              </a:rPr>
              <a:t>widzi</a:t>
            </a:r>
            <a:r>
              <a:rPr lang="en-US" sz="1300" b="0" strike="noStrike" spc="-1" dirty="0">
                <a:solidFill>
                  <a:srgbClr val="2968A8"/>
                </a:solidFill>
                <a:latin typeface="Calibri"/>
                <a:ea typeface="Calibri"/>
              </a:rPr>
              <a:t> </a:t>
            </a:r>
            <a:r>
              <a:rPr lang="en-US" sz="1300" b="0" strike="noStrike" spc="-1" dirty="0" err="1">
                <a:solidFill>
                  <a:srgbClr val="2968A8"/>
                </a:solidFill>
                <a:latin typeface="Calibri"/>
                <a:ea typeface="Calibri"/>
              </a:rPr>
              <a:t>ważny</a:t>
            </a:r>
            <a:r>
              <a:rPr lang="en-US" sz="1300" b="0" strike="noStrike" spc="-1" dirty="0">
                <a:solidFill>
                  <a:srgbClr val="2968A8"/>
                </a:solidFill>
                <a:latin typeface="Calibri"/>
                <a:ea typeface="Calibri"/>
              </a:rPr>
              <a:t> </a:t>
            </a:r>
            <a:r>
              <a:rPr lang="en-US" sz="1300" b="0" strike="noStrike" spc="-1" dirty="0" err="1">
                <a:solidFill>
                  <a:srgbClr val="2968A8"/>
                </a:solidFill>
                <a:latin typeface="Calibri"/>
                <a:ea typeface="Calibri"/>
              </a:rPr>
              <a:t>podpis</a:t>
            </a:r>
            <a:r>
              <a:rPr lang="en-US" sz="1300" b="0" strike="noStrike" spc="-1" dirty="0">
                <a:solidFill>
                  <a:srgbClr val="2968A8"/>
                </a:solidFill>
                <a:latin typeface="Calibri"/>
                <a:ea typeface="Calibri"/>
              </a:rPr>
              <a:t>, </a:t>
            </a:r>
            <a:r>
              <a:rPr lang="en-US" sz="1300" b="0" strike="noStrike" spc="-1" dirty="0" err="1">
                <a:solidFill>
                  <a:srgbClr val="2968A8"/>
                </a:solidFill>
                <a:latin typeface="Calibri"/>
                <a:ea typeface="Calibri"/>
              </a:rPr>
              <a:t>wydaje</a:t>
            </a:r>
            <a:r>
              <a:rPr lang="en-US" sz="1300" b="0" strike="noStrike" spc="-1" dirty="0">
                <a:solidFill>
                  <a:srgbClr val="2968A8"/>
                </a:solidFill>
                <a:latin typeface="Calibri"/>
                <a:ea typeface="Calibri"/>
              </a:rPr>
              <a:t> </a:t>
            </a:r>
            <a:r>
              <a:rPr lang="en-US" sz="1300" b="0" strike="noStrike" spc="-1" dirty="0" err="1">
                <a:solidFill>
                  <a:srgbClr val="2968A8"/>
                </a:solidFill>
                <a:latin typeface="Calibri"/>
                <a:ea typeface="Calibri"/>
              </a:rPr>
              <a:t>kod</a:t>
            </a:r>
            <a:r>
              <a:rPr lang="en-US" sz="1300" b="0" strike="noStrike" spc="-1" dirty="0">
                <a:solidFill>
                  <a:srgbClr val="2968A8"/>
                </a:solidFill>
                <a:latin typeface="Calibri"/>
                <a:ea typeface="Calibri"/>
              </a:rPr>
              <a:t> — ale </a:t>
            </a:r>
            <a:r>
              <a:rPr lang="en-US" sz="1300" b="0" strike="noStrike" spc="-1" dirty="0" err="1">
                <a:solidFill>
                  <a:srgbClr val="2968A8"/>
                </a:solidFill>
                <a:latin typeface="Calibri"/>
                <a:ea typeface="Calibri"/>
              </a:rPr>
              <a:t>nie</a:t>
            </a:r>
            <a:r>
              <a:rPr lang="en-US" sz="1300" b="0" strike="noStrike" spc="-1" dirty="0">
                <a:solidFill>
                  <a:srgbClr val="2968A8"/>
                </a:solidFill>
                <a:latin typeface="Calibri"/>
                <a:ea typeface="Calibri"/>
              </a:rPr>
              <a:t> </a:t>
            </a:r>
            <a:r>
              <a:rPr lang="en-US" sz="1300" b="0" strike="noStrike" spc="-1" dirty="0" err="1">
                <a:solidFill>
                  <a:srgbClr val="2968A8"/>
                </a:solidFill>
                <a:latin typeface="Calibri"/>
                <a:ea typeface="Calibri"/>
              </a:rPr>
              <a:t>wie</a:t>
            </a:r>
            <a:r>
              <a:rPr lang="en-US" sz="1300" b="0" strike="noStrike" spc="-1" dirty="0">
                <a:solidFill>
                  <a:srgbClr val="2968A8"/>
                </a:solidFill>
                <a:latin typeface="Calibri"/>
                <a:ea typeface="Calibri"/>
              </a:rPr>
              <a:t> </a:t>
            </a:r>
            <a:r>
              <a:rPr lang="en-US" sz="1300" b="0" strike="noStrike" spc="-1" dirty="0" err="1">
                <a:solidFill>
                  <a:srgbClr val="2968A8"/>
                </a:solidFill>
                <a:latin typeface="Calibri"/>
                <a:ea typeface="Calibri"/>
              </a:rPr>
              <a:t>kto</a:t>
            </a:r>
            <a:r>
              <a:rPr lang="en-US" sz="1300" b="0" strike="noStrike" spc="-1" dirty="0">
                <a:solidFill>
                  <a:srgbClr val="2968A8"/>
                </a:solidFill>
                <a:latin typeface="Calibri"/>
                <a:ea typeface="Calibri"/>
              </a:rPr>
              <a:t> </a:t>
            </a:r>
            <a:r>
              <a:rPr lang="en-US" sz="1300" b="0" strike="noStrike" spc="-1" dirty="0" err="1">
                <a:solidFill>
                  <a:srgbClr val="2968A8"/>
                </a:solidFill>
                <a:latin typeface="Calibri"/>
                <a:ea typeface="Calibri"/>
              </a:rPr>
              <a:t>stał</a:t>
            </a:r>
            <a:r>
              <a:rPr lang="en-US" sz="1300" b="0" strike="noStrike" spc="-1" dirty="0">
                <a:solidFill>
                  <a:srgbClr val="2968A8"/>
                </a:solidFill>
                <a:latin typeface="Calibri"/>
                <a:ea typeface="Calibri"/>
              </a:rPr>
              <a:t> w </a:t>
            </a:r>
            <a:r>
              <a:rPr lang="en-US" sz="1300" b="0" strike="noStrike" spc="-1" dirty="0" err="1">
                <a:solidFill>
                  <a:srgbClr val="2968A8"/>
                </a:solidFill>
                <a:latin typeface="Calibri"/>
                <a:ea typeface="Calibri"/>
              </a:rPr>
              <a:t>pierwszym</a:t>
            </a:r>
            <a:r>
              <a:rPr lang="en-US" sz="1300" b="0" strike="noStrike" spc="-1" dirty="0">
                <a:solidFill>
                  <a:srgbClr val="2968A8"/>
                </a:solidFill>
                <a:latin typeface="Calibri"/>
                <a:ea typeface="Calibri"/>
              </a:rPr>
              <a:t> </a:t>
            </a:r>
            <a:r>
              <a:rPr lang="en-US" sz="1300" b="0" strike="noStrike" spc="-1" dirty="0" err="1">
                <a:solidFill>
                  <a:srgbClr val="2968A8"/>
                </a:solidFill>
                <a:latin typeface="Calibri"/>
                <a:ea typeface="Calibri"/>
              </a:rPr>
              <a:t>okienku</a:t>
            </a:r>
            <a:endParaRPr lang="en-US" sz="13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Shape 0"/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C41E3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720" rIns="90000" bIns="972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" name="Text 1"/>
          <p:cNvSpPr/>
          <p:nvPr/>
        </p:nvSpPr>
        <p:spPr>
          <a:xfrm>
            <a:off x="731520" y="228600"/>
            <a:ext cx="768060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strike="noStrike" spc="-1">
                <a:solidFill>
                  <a:srgbClr val="1A2744"/>
                </a:solidFill>
                <a:latin typeface="Arial Black"/>
                <a:ea typeface="Arial Black"/>
              </a:rPr>
              <a:t>4 warstwy ochrony prywatności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Text 2"/>
          <p:cNvSpPr/>
          <p:nvPr/>
        </p:nvSpPr>
        <p:spPr>
          <a:xfrm>
            <a:off x="731520" y="777240"/>
            <a:ext cx="768060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strike="noStrike" spc="-1">
                <a:solidFill>
                  <a:srgbClr val="8892A0"/>
                </a:solidFill>
                <a:latin typeface="Calibri"/>
                <a:ea typeface="Calibri"/>
              </a:rPr>
              <a:t>Nawet jeśli jedno zabezpieczenie zawiedzie, pozostałe trzymają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Shape 3"/>
          <p:cNvSpPr/>
          <p:nvPr/>
        </p:nvSpPr>
        <p:spPr>
          <a:xfrm>
            <a:off x="731520" y="1234440"/>
            <a:ext cx="7680600" cy="77688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blurRad="1015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Shape 4"/>
          <p:cNvSpPr/>
          <p:nvPr/>
        </p:nvSpPr>
        <p:spPr>
          <a:xfrm>
            <a:off x="731520" y="1234440"/>
            <a:ext cx="72720" cy="776880"/>
          </a:xfrm>
          <a:prstGeom prst="rect">
            <a:avLst/>
          </a:prstGeom>
          <a:solidFill>
            <a:srgbClr val="2E7D3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" name="Shape 5"/>
          <p:cNvSpPr/>
          <p:nvPr/>
        </p:nvSpPr>
        <p:spPr>
          <a:xfrm>
            <a:off x="1005840" y="1389960"/>
            <a:ext cx="456840" cy="456840"/>
          </a:xfrm>
          <a:prstGeom prst="ellipse">
            <a:avLst/>
          </a:prstGeom>
          <a:solidFill>
            <a:srgbClr val="E8F5E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Text 6"/>
          <p:cNvSpPr/>
          <p:nvPr/>
        </p:nvSpPr>
        <p:spPr>
          <a:xfrm>
            <a:off x="1005840" y="13899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>
                <a:solidFill>
                  <a:srgbClr val="2E7D32"/>
                </a:solidFill>
                <a:latin typeface="Calibri"/>
                <a:ea typeface="Calibri"/>
              </a:rPr>
              <a:t>1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Text 7"/>
          <p:cNvSpPr/>
          <p:nvPr/>
        </p:nvSpPr>
        <p:spPr>
          <a:xfrm>
            <a:off x="1645920" y="1307520"/>
            <a:ext cx="41144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strike="noStrike" spc="-1">
                <a:solidFill>
                  <a:srgbClr val="1A2744"/>
                </a:solidFill>
                <a:latin typeface="Calibri"/>
                <a:ea typeface="Calibri"/>
              </a:rPr>
              <a:t>Separacja prawna</a:t>
            </a:r>
            <a:endParaRPr lang="en-US" sz="15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Text 8"/>
          <p:cNvSpPr/>
          <p:nvPr/>
        </p:nvSpPr>
        <p:spPr>
          <a:xfrm>
            <a:off x="1645920" y="1618560"/>
            <a:ext cx="41144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rgbClr val="4A5568"/>
                </a:solidFill>
                <a:latin typeface="Calibri"/>
                <a:ea typeface="Calibri"/>
              </a:rPr>
              <a:t>Dwa resorty + ustawowy zakaz wymiany danych. Zmowa = przestępstwo.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Shape 9"/>
          <p:cNvSpPr/>
          <p:nvPr/>
        </p:nvSpPr>
        <p:spPr>
          <a:xfrm>
            <a:off x="6766560" y="1463040"/>
            <a:ext cx="1462680" cy="319680"/>
          </a:xfrm>
          <a:prstGeom prst="rect">
            <a:avLst/>
          </a:prstGeom>
          <a:solidFill>
            <a:srgbClr val="E8F5E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Text 10"/>
          <p:cNvSpPr/>
          <p:nvPr/>
        </p:nvSpPr>
        <p:spPr>
          <a:xfrm>
            <a:off x="6766560" y="1463040"/>
            <a:ext cx="14626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strike="noStrike" spc="-1">
                <a:solidFill>
                  <a:srgbClr val="2E7D32"/>
                </a:solidFill>
                <a:latin typeface="Calibri"/>
                <a:ea typeface="Calibri"/>
              </a:rPr>
              <a:t>PRAWNA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Shape 11"/>
          <p:cNvSpPr/>
          <p:nvPr/>
        </p:nvSpPr>
        <p:spPr>
          <a:xfrm>
            <a:off x="731520" y="2148840"/>
            <a:ext cx="7680600" cy="77688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blurRad="1015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Shape 12"/>
          <p:cNvSpPr/>
          <p:nvPr/>
        </p:nvSpPr>
        <p:spPr>
          <a:xfrm>
            <a:off x="731520" y="2148840"/>
            <a:ext cx="72720" cy="776880"/>
          </a:xfrm>
          <a:prstGeom prst="rect">
            <a:avLst/>
          </a:prstGeom>
          <a:solidFill>
            <a:srgbClr val="2968A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" name="Shape 13"/>
          <p:cNvSpPr/>
          <p:nvPr/>
        </p:nvSpPr>
        <p:spPr>
          <a:xfrm>
            <a:off x="1005840" y="2304360"/>
            <a:ext cx="456840" cy="456840"/>
          </a:xfrm>
          <a:prstGeom prst="ellipse">
            <a:avLst/>
          </a:prstGeom>
          <a:solidFill>
            <a:srgbClr val="E3F2FD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Text 14"/>
          <p:cNvSpPr/>
          <p:nvPr/>
        </p:nvSpPr>
        <p:spPr>
          <a:xfrm>
            <a:off x="1005840" y="23043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>
                <a:solidFill>
                  <a:srgbClr val="2968A8"/>
                </a:solidFill>
                <a:latin typeface="Calibri"/>
                <a:ea typeface="Calibri"/>
              </a:rPr>
              <a:t>2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Text 15"/>
          <p:cNvSpPr/>
          <p:nvPr/>
        </p:nvSpPr>
        <p:spPr>
          <a:xfrm>
            <a:off x="1645920" y="2221920"/>
            <a:ext cx="41144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strike="noStrike" spc="-1">
                <a:solidFill>
                  <a:srgbClr val="1A2744"/>
                </a:solidFill>
                <a:latin typeface="Calibri"/>
                <a:ea typeface="Calibri"/>
              </a:rPr>
              <a:t>Ślepe podpisy RSA</a:t>
            </a:r>
            <a:endParaRPr lang="en-US" sz="15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Text 16"/>
          <p:cNvSpPr/>
          <p:nvPr/>
        </p:nvSpPr>
        <p:spPr>
          <a:xfrm>
            <a:off x="1645920" y="2532960"/>
            <a:ext cx="41144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rgbClr val="4A5568"/>
                </a:solidFill>
                <a:latin typeface="Calibri"/>
                <a:ea typeface="Calibri"/>
              </a:rPr>
              <a:t>Zaślepiony token =/= odślepiony token. Matematycznie niepowiązalne.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Shape 17"/>
          <p:cNvSpPr/>
          <p:nvPr/>
        </p:nvSpPr>
        <p:spPr>
          <a:xfrm>
            <a:off x="6766560" y="2377440"/>
            <a:ext cx="1462680" cy="319680"/>
          </a:xfrm>
          <a:prstGeom prst="rect">
            <a:avLst/>
          </a:prstGeom>
          <a:solidFill>
            <a:srgbClr val="E3F2FD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 18"/>
          <p:cNvSpPr/>
          <p:nvPr/>
        </p:nvSpPr>
        <p:spPr>
          <a:xfrm>
            <a:off x="6766560" y="2377440"/>
            <a:ext cx="14626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strike="noStrike" spc="-1">
                <a:solidFill>
                  <a:srgbClr val="2968A8"/>
                </a:solidFill>
                <a:latin typeface="Calibri"/>
                <a:ea typeface="Calibri"/>
              </a:rPr>
              <a:t>MATEMATYCZNA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Shape 19"/>
          <p:cNvSpPr/>
          <p:nvPr/>
        </p:nvSpPr>
        <p:spPr>
          <a:xfrm>
            <a:off x="731520" y="3063240"/>
            <a:ext cx="7680600" cy="77688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blurRad="1015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Shape 20"/>
          <p:cNvSpPr/>
          <p:nvPr/>
        </p:nvSpPr>
        <p:spPr>
          <a:xfrm>
            <a:off x="731520" y="3063240"/>
            <a:ext cx="72720" cy="776880"/>
          </a:xfrm>
          <a:prstGeom prst="rect">
            <a:avLst/>
          </a:prstGeom>
          <a:solidFill>
            <a:srgbClr val="2968A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Shape 21"/>
          <p:cNvSpPr/>
          <p:nvPr/>
        </p:nvSpPr>
        <p:spPr>
          <a:xfrm>
            <a:off x="1005840" y="3218760"/>
            <a:ext cx="456840" cy="456840"/>
          </a:xfrm>
          <a:prstGeom prst="ellipse">
            <a:avLst/>
          </a:prstGeom>
          <a:solidFill>
            <a:srgbClr val="FFF8E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Text 22"/>
          <p:cNvSpPr/>
          <p:nvPr/>
        </p:nvSpPr>
        <p:spPr>
          <a:xfrm>
            <a:off x="1005840" y="32187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>
                <a:solidFill>
                  <a:srgbClr val="2968A8"/>
                </a:solidFill>
                <a:latin typeface="Calibri"/>
                <a:ea typeface="Calibri"/>
              </a:rPr>
              <a:t>3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 23"/>
          <p:cNvSpPr/>
          <p:nvPr/>
        </p:nvSpPr>
        <p:spPr>
          <a:xfrm>
            <a:off x="1645920" y="3136320"/>
            <a:ext cx="41144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strike="noStrike" spc="-1" dirty="0">
                <a:solidFill>
                  <a:srgbClr val="1A2744"/>
                </a:solidFill>
                <a:latin typeface="Calibri"/>
                <a:ea typeface="Calibri"/>
              </a:rPr>
              <a:t>OPRF (Oblivious </a:t>
            </a:r>
            <a:r>
              <a:rPr lang="en-US" sz="1500" b="1" strike="noStrike" spc="-1" dirty="0" err="1">
                <a:solidFill>
                  <a:srgbClr val="1A2744"/>
                </a:solidFill>
                <a:latin typeface="Calibri"/>
                <a:ea typeface="Calibri"/>
              </a:rPr>
              <a:t>PseudoRandom</a:t>
            </a:r>
            <a:r>
              <a:rPr lang="en-US" sz="1500" b="1" strike="noStrike" spc="-1" dirty="0">
                <a:solidFill>
                  <a:srgbClr val="1A2744"/>
                </a:solidFill>
                <a:latin typeface="Calibri"/>
                <a:ea typeface="Calibri"/>
              </a:rPr>
              <a:t> Function)</a:t>
            </a:r>
            <a:endParaRPr lang="en-US" sz="15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Text 24"/>
          <p:cNvSpPr/>
          <p:nvPr/>
        </p:nvSpPr>
        <p:spPr>
          <a:xfrm>
            <a:off x="1645920" y="3447360"/>
            <a:ext cx="41144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rgbClr val="4A5568"/>
                </a:solidFill>
                <a:latin typeface="Calibri"/>
                <a:ea typeface="Calibri"/>
              </a:rPr>
              <a:t>Serwer przetwarza dane, ktorych nigdy nie widział. Nawet logi sa bezużyteczne.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Shape 25"/>
          <p:cNvSpPr/>
          <p:nvPr/>
        </p:nvSpPr>
        <p:spPr>
          <a:xfrm>
            <a:off x="6766560" y="3291840"/>
            <a:ext cx="1462680" cy="319680"/>
          </a:xfrm>
          <a:prstGeom prst="rect">
            <a:avLst/>
          </a:prstGeom>
          <a:solidFill>
            <a:srgbClr val="FFF8E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Text 26"/>
          <p:cNvSpPr/>
          <p:nvPr/>
        </p:nvSpPr>
        <p:spPr>
          <a:xfrm>
            <a:off x="6766560" y="3291840"/>
            <a:ext cx="14626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strike="noStrike" spc="-1">
                <a:solidFill>
                  <a:srgbClr val="2968A8"/>
                </a:solidFill>
                <a:latin typeface="Calibri"/>
                <a:ea typeface="Calibri"/>
              </a:rPr>
              <a:t>MATEMATYCZNA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Shape 27"/>
          <p:cNvSpPr/>
          <p:nvPr/>
        </p:nvSpPr>
        <p:spPr>
          <a:xfrm>
            <a:off x="731520" y="3977640"/>
            <a:ext cx="7680600" cy="77688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blurRad="1015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Shape 28"/>
          <p:cNvSpPr/>
          <p:nvPr/>
        </p:nvSpPr>
        <p:spPr>
          <a:xfrm>
            <a:off x="731520" y="3977640"/>
            <a:ext cx="72720" cy="776880"/>
          </a:xfrm>
          <a:prstGeom prst="rect">
            <a:avLst/>
          </a:prstGeom>
          <a:solidFill>
            <a:srgbClr val="C41E3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" name="Shape 29"/>
          <p:cNvSpPr/>
          <p:nvPr/>
        </p:nvSpPr>
        <p:spPr>
          <a:xfrm>
            <a:off x="1005840" y="4133160"/>
            <a:ext cx="456840" cy="456840"/>
          </a:xfrm>
          <a:prstGeom prst="ellipse">
            <a:avLst/>
          </a:prstGeom>
          <a:solidFill>
            <a:srgbClr val="FCE4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Text 30"/>
          <p:cNvSpPr/>
          <p:nvPr/>
        </p:nvSpPr>
        <p:spPr>
          <a:xfrm>
            <a:off x="1005840" y="41331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>
                <a:solidFill>
                  <a:srgbClr val="C41E3A"/>
                </a:solidFill>
                <a:latin typeface="Calibri"/>
                <a:ea typeface="Calibri"/>
              </a:rPr>
              <a:t>4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Text 31"/>
          <p:cNvSpPr/>
          <p:nvPr/>
        </p:nvSpPr>
        <p:spPr>
          <a:xfrm>
            <a:off x="1645920" y="4050720"/>
            <a:ext cx="41144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strike="noStrike" spc="-1">
                <a:solidFill>
                  <a:srgbClr val="1A2744"/>
                </a:solidFill>
                <a:latin typeface="Calibri"/>
                <a:ea typeface="Calibri"/>
              </a:rPr>
              <a:t>Enklawy TEE</a:t>
            </a:r>
            <a:endParaRPr lang="en-US" sz="15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Text 32"/>
          <p:cNvSpPr/>
          <p:nvPr/>
        </p:nvSpPr>
        <p:spPr>
          <a:xfrm>
            <a:off x="1645920" y="4361760"/>
            <a:ext cx="41144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rgbClr val="4A5568"/>
                </a:solidFill>
                <a:latin typeface="Calibri"/>
                <a:ea typeface="Calibri"/>
              </a:rPr>
              <a:t>Intel SGX / ARM TrustZone. Kod open-source. Nawet admin serwera nie widzi danych.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Shape 33"/>
          <p:cNvSpPr/>
          <p:nvPr/>
        </p:nvSpPr>
        <p:spPr>
          <a:xfrm>
            <a:off x="6766560" y="4206240"/>
            <a:ext cx="1462680" cy="319680"/>
          </a:xfrm>
          <a:prstGeom prst="rect">
            <a:avLst/>
          </a:prstGeom>
          <a:solidFill>
            <a:srgbClr val="FCE4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Text 34"/>
          <p:cNvSpPr/>
          <p:nvPr/>
        </p:nvSpPr>
        <p:spPr>
          <a:xfrm>
            <a:off x="6766560" y="4206240"/>
            <a:ext cx="14626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strike="noStrike" spc="-1">
                <a:solidFill>
                  <a:srgbClr val="C41E3A"/>
                </a:solidFill>
                <a:latin typeface="Calibri"/>
                <a:ea typeface="Calibri"/>
              </a:rPr>
              <a:t>SPRZĘTOWA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Shape 0"/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C41E3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720" rIns="90000" bIns="972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" name="Text 1"/>
          <p:cNvSpPr/>
          <p:nvPr/>
        </p:nvSpPr>
        <p:spPr>
          <a:xfrm>
            <a:off x="731520" y="274320"/>
            <a:ext cx="76806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strike="noStrike" spc="-1" dirty="0">
                <a:solidFill>
                  <a:srgbClr val="FFFFFF"/>
                </a:solidFill>
                <a:latin typeface="Arial Black"/>
                <a:ea typeface="Arial Black"/>
              </a:rPr>
              <a:t>Co </a:t>
            </a:r>
            <a:r>
              <a:rPr lang="en-US" sz="3000" b="1" strike="noStrike" spc="-1" dirty="0" err="1">
                <a:solidFill>
                  <a:srgbClr val="FFFFFF"/>
                </a:solidFill>
                <a:latin typeface="Arial Black"/>
                <a:ea typeface="Arial Black"/>
              </a:rPr>
              <a:t>jesli</a:t>
            </a:r>
            <a:r>
              <a:rPr lang="en-US" sz="3000" b="1" strike="noStrike" spc="-1" dirty="0">
                <a:solidFill>
                  <a:srgbClr val="FFFFFF"/>
                </a:solidFill>
                <a:latin typeface="Arial Black"/>
                <a:ea typeface="Arial Black"/>
              </a:rPr>
              <a:t> </a:t>
            </a:r>
            <a:r>
              <a:rPr lang="en-US" sz="3000" b="1" strike="noStrike" spc="-1" dirty="0" err="1">
                <a:solidFill>
                  <a:srgbClr val="FFFFFF"/>
                </a:solidFill>
                <a:latin typeface="Arial Black"/>
                <a:ea typeface="Arial Black"/>
              </a:rPr>
              <a:t>Rząd</a:t>
            </a:r>
            <a:r>
              <a:rPr lang="en-US" sz="3000" b="1" strike="noStrike" spc="-1" dirty="0">
                <a:solidFill>
                  <a:srgbClr val="FFFFFF"/>
                </a:solidFill>
                <a:latin typeface="Arial Black"/>
                <a:ea typeface="Arial Black"/>
              </a:rPr>
              <a:t> A </a:t>
            </a:r>
            <a:r>
              <a:rPr lang="en-US" sz="3000" b="1" strike="noStrike" spc="-1" dirty="0" err="1">
                <a:solidFill>
                  <a:srgbClr val="FFFFFF"/>
                </a:solidFill>
                <a:latin typeface="Arial Black"/>
                <a:ea typeface="Arial Black"/>
              </a:rPr>
              <a:t>i</a:t>
            </a:r>
            <a:r>
              <a:rPr lang="en-US" sz="3000" b="1" strike="noStrike" spc="-1" dirty="0">
                <a:solidFill>
                  <a:srgbClr val="FFFFFF"/>
                </a:solidFill>
                <a:latin typeface="Arial Black"/>
                <a:ea typeface="Arial Black"/>
              </a:rPr>
              <a:t> B </a:t>
            </a:r>
            <a:r>
              <a:rPr lang="en-US" sz="3000" b="1" strike="noStrike" spc="-1" dirty="0" err="1">
                <a:solidFill>
                  <a:srgbClr val="FFFFFF"/>
                </a:solidFill>
                <a:latin typeface="Arial Black"/>
                <a:ea typeface="Arial Black"/>
              </a:rPr>
              <a:t>zmówią</a:t>
            </a:r>
            <a:r>
              <a:rPr lang="en-US" sz="3000" b="1" strike="noStrike" spc="-1" dirty="0">
                <a:solidFill>
                  <a:srgbClr val="FFFFFF"/>
                </a:solidFill>
                <a:latin typeface="Arial Black"/>
                <a:ea typeface="Arial Black"/>
              </a:rPr>
              <a:t> </a:t>
            </a:r>
            <a:r>
              <a:rPr lang="en-US" sz="3000" b="1" strike="noStrike" spc="-1" dirty="0" err="1">
                <a:solidFill>
                  <a:srgbClr val="FFFFFF"/>
                </a:solidFill>
                <a:latin typeface="Arial Black"/>
                <a:ea typeface="Arial Black"/>
              </a:rPr>
              <a:t>się</a:t>
            </a:r>
            <a:r>
              <a:rPr lang="en-US" sz="3000" b="1" strike="noStrike" spc="-1" dirty="0">
                <a:solidFill>
                  <a:srgbClr val="FFFFFF"/>
                </a:solidFill>
                <a:latin typeface="Arial Black"/>
                <a:ea typeface="Arial Black"/>
              </a:rPr>
              <a:t>?</a:t>
            </a:r>
            <a:endParaRPr lang="en-US" sz="30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" name="Shape 2"/>
          <p:cNvSpPr/>
          <p:nvPr/>
        </p:nvSpPr>
        <p:spPr>
          <a:xfrm>
            <a:off x="731520" y="1188720"/>
            <a:ext cx="3657240" cy="1828440"/>
          </a:xfrm>
          <a:prstGeom prst="rect">
            <a:avLst/>
          </a:prstGeom>
          <a:solidFill>
            <a:srgbClr val="243556"/>
          </a:solidFill>
          <a:ln w="0">
            <a:noFill/>
          </a:ln>
          <a:effectLst>
            <a:outerShdw blurRad="1015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" name="Shape 3"/>
          <p:cNvSpPr/>
          <p:nvPr/>
        </p:nvSpPr>
        <p:spPr>
          <a:xfrm>
            <a:off x="731520" y="1188720"/>
            <a:ext cx="3657240" cy="456840"/>
          </a:xfrm>
          <a:prstGeom prst="rect">
            <a:avLst/>
          </a:prstGeom>
          <a:solidFill>
            <a:srgbClr val="C41E3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" name="Text 4"/>
          <p:cNvSpPr/>
          <p:nvPr/>
        </p:nvSpPr>
        <p:spPr>
          <a:xfrm>
            <a:off x="731520" y="1188720"/>
            <a:ext cx="3657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strike="noStrike" spc="-1">
                <a:solidFill>
                  <a:srgbClr val="FFFFFF"/>
                </a:solidFill>
                <a:latin typeface="Calibri"/>
                <a:ea typeface="Calibri"/>
              </a:rPr>
              <a:t>Rząd A ma:</a:t>
            </a:r>
            <a:endParaRPr lang="en-US" sz="15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" name="Text 5"/>
          <p:cNvSpPr/>
          <p:nvPr/>
        </p:nvSpPr>
        <p:spPr>
          <a:xfrm>
            <a:off x="914400" y="1783080"/>
            <a:ext cx="3291480" cy="1005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rgbClr val="8892A0"/>
                </a:solidFill>
                <a:latin typeface="Calibri"/>
                <a:ea typeface="Calibri"/>
              </a:rPr>
              <a:t>PESEL + zaślepiony token</a:t>
            </a:r>
            <a:endParaRPr lang="en-US" sz="1400" b="0" strike="noStrike" spc="-1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rgbClr val="8892A0"/>
                </a:solidFill>
                <a:latin typeface="Calibri"/>
                <a:ea typeface="Calibri"/>
              </a:rPr>
              <a:t>(losowy szum)</a:t>
            </a:r>
            <a:endParaRPr lang="en-US" sz="1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Shape 6"/>
          <p:cNvSpPr/>
          <p:nvPr/>
        </p:nvSpPr>
        <p:spPr>
          <a:xfrm>
            <a:off x="4754880" y="1188720"/>
            <a:ext cx="3657240" cy="1828440"/>
          </a:xfrm>
          <a:prstGeom prst="rect">
            <a:avLst/>
          </a:prstGeom>
          <a:solidFill>
            <a:srgbClr val="243556"/>
          </a:solidFill>
          <a:ln w="0">
            <a:noFill/>
          </a:ln>
          <a:effectLst>
            <a:outerShdw blurRad="1015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Shape 7"/>
          <p:cNvSpPr/>
          <p:nvPr/>
        </p:nvSpPr>
        <p:spPr>
          <a:xfrm>
            <a:off x="4754880" y="1188720"/>
            <a:ext cx="3657240" cy="456840"/>
          </a:xfrm>
          <a:prstGeom prst="rect">
            <a:avLst/>
          </a:prstGeom>
          <a:solidFill>
            <a:srgbClr val="2968A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" name="Text 8"/>
          <p:cNvSpPr/>
          <p:nvPr/>
        </p:nvSpPr>
        <p:spPr>
          <a:xfrm>
            <a:off x="4754880" y="1188720"/>
            <a:ext cx="3657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strike="noStrike" spc="-1">
                <a:solidFill>
                  <a:srgbClr val="FFFFFF"/>
                </a:solidFill>
                <a:latin typeface="Calibri"/>
                <a:ea typeface="Calibri"/>
              </a:rPr>
              <a:t>Rząd B ma:</a:t>
            </a:r>
            <a:endParaRPr lang="en-US" sz="15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" name="Text 9"/>
          <p:cNvSpPr/>
          <p:nvPr/>
        </p:nvSpPr>
        <p:spPr>
          <a:xfrm>
            <a:off x="4937760" y="1783080"/>
            <a:ext cx="3291480" cy="1005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rgbClr val="8892A0"/>
                </a:solidFill>
                <a:latin typeface="Calibri"/>
                <a:ea typeface="Calibri"/>
              </a:rPr>
              <a:t>Odślepiony token + kod</a:t>
            </a:r>
            <a:endParaRPr lang="en-US" sz="1400" b="0" strike="noStrike" spc="-1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rgbClr val="8892A0"/>
                </a:solidFill>
                <a:latin typeface="Calibri"/>
                <a:ea typeface="Calibri"/>
              </a:rPr>
              <a:t>(bez tożsamości)</a:t>
            </a:r>
            <a:endParaRPr lang="en-US" sz="1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" name="Shape 10"/>
          <p:cNvSpPr/>
          <p:nvPr/>
        </p:nvSpPr>
        <p:spPr>
          <a:xfrm>
            <a:off x="1371600" y="3383280"/>
            <a:ext cx="6400440" cy="1371240"/>
          </a:xfrm>
          <a:prstGeom prst="rect">
            <a:avLst/>
          </a:prstGeom>
          <a:solidFill>
            <a:srgbClr val="2E7D32"/>
          </a:solidFill>
          <a:ln w="0">
            <a:noFill/>
          </a:ln>
          <a:effectLst>
            <a:outerShdw blurRad="1015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" name="Text 11"/>
          <p:cNvSpPr/>
          <p:nvPr/>
        </p:nvSpPr>
        <p:spPr>
          <a:xfrm>
            <a:off x="1554480" y="3474720"/>
            <a:ext cx="6034680" cy="1188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lang="en-US" sz="1800" b="1" strike="noStrike" spc="-1">
                <a:solidFill>
                  <a:srgbClr val="FFFFFF"/>
                </a:solidFill>
                <a:latin typeface="Calibri"/>
                <a:ea typeface="Calibri"/>
              </a:rPr>
              <a:t>Zaślepiony token  =/=  Odślepiony token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strike="noStrike" spc="-1">
                <a:solidFill>
                  <a:srgbClr val="FFFFFF"/>
                </a:solidFill>
                <a:latin typeface="Calibri"/>
                <a:ea typeface="Calibri"/>
              </a:rPr>
              <a:t>To jest sedno ślepego podpisu! Nawet mając OBA dzienniki,</a:t>
            </a:r>
            <a:endParaRPr lang="en-US" sz="1300" b="0" strike="noStrike" spc="-1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strike="noStrike" spc="-1">
                <a:solidFill>
                  <a:srgbClr val="FFFFFF"/>
                </a:solidFill>
                <a:latin typeface="Calibri"/>
                <a:ea typeface="Calibri"/>
              </a:rPr>
              <a:t>NIE DA SIE powiązać wpisów Rządu A z wpisami Rządu B.</a:t>
            </a:r>
            <a:endParaRPr lang="en-US" sz="13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Shape 0"/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C41E3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720" rIns="90000" bIns="972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 1"/>
          <p:cNvSpPr/>
          <p:nvPr/>
        </p:nvSpPr>
        <p:spPr>
          <a:xfrm>
            <a:off x="731520" y="274320"/>
            <a:ext cx="76806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strike="noStrike" spc="-1">
                <a:solidFill>
                  <a:srgbClr val="1A2744"/>
                </a:solidFill>
                <a:latin typeface="Arial Black"/>
                <a:ea typeface="Arial Black"/>
              </a:rPr>
              <a:t>Proof of Concept</a:t>
            </a:r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 2"/>
          <p:cNvSpPr/>
          <p:nvPr/>
        </p:nvSpPr>
        <p:spPr>
          <a:xfrm>
            <a:off x="731520" y="822960"/>
            <a:ext cx="76806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strike="noStrike" spc="-1">
                <a:solidFill>
                  <a:srgbClr val="8892A0"/>
                </a:solidFill>
                <a:latin typeface="Calibri"/>
                <a:ea typeface="Calibri"/>
              </a:rPr>
              <a:t>Działający kod + interaktywny mockup aplikacji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Shape 3"/>
          <p:cNvSpPr/>
          <p:nvPr/>
        </p:nvSpPr>
        <p:spPr>
          <a:xfrm>
            <a:off x="731520" y="1371600"/>
            <a:ext cx="3657240" cy="310860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blurRad="1015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Shape 4"/>
          <p:cNvSpPr/>
          <p:nvPr/>
        </p:nvSpPr>
        <p:spPr>
          <a:xfrm>
            <a:off x="731520" y="1371600"/>
            <a:ext cx="3657240" cy="502560"/>
          </a:xfrm>
          <a:prstGeom prst="rect">
            <a:avLst/>
          </a:prstGeom>
          <a:solidFill>
            <a:srgbClr val="1A2744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Text 5"/>
          <p:cNvSpPr/>
          <p:nvPr/>
        </p:nvSpPr>
        <p:spPr>
          <a:xfrm>
            <a:off x="731520" y="1371600"/>
            <a:ext cx="36572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rgbClr val="FFFFFF"/>
                </a:solidFill>
                <a:latin typeface="Calibri"/>
                <a:ea typeface="Calibri"/>
              </a:rPr>
              <a:t>Kod kryptograficzny (Python)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Text 6"/>
          <p:cNvSpPr/>
          <p:nvPr/>
        </p:nvSpPr>
        <p:spPr>
          <a:xfrm>
            <a:off x="914400" y="2011680"/>
            <a:ext cx="3291480" cy="228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4A5568"/>
              </a:buClr>
              <a:buFont typeface="Symbol" charset="2"/>
              <a:buChar char=""/>
            </a:pPr>
            <a:r>
              <a:rPr lang="en-US" sz="1200" b="0" strike="noStrike" spc="-1" dirty="0" err="1">
                <a:solidFill>
                  <a:srgbClr val="4A5568"/>
                </a:solidFill>
                <a:latin typeface="Calibri"/>
                <a:ea typeface="Calibri"/>
              </a:rPr>
              <a:t>Ślepe</a:t>
            </a:r>
            <a:r>
              <a:rPr lang="en-US" sz="1200" b="0" strike="noStrike" spc="-1" dirty="0">
                <a:solidFill>
                  <a:srgbClr val="4A5568"/>
                </a:solidFill>
                <a:latin typeface="Calibri"/>
                <a:ea typeface="Calibri"/>
              </a:rPr>
              <a:t> </a:t>
            </a:r>
            <a:r>
              <a:rPr lang="en-US" sz="1200" b="0" strike="noStrike" spc="-1" dirty="0" err="1">
                <a:solidFill>
                  <a:srgbClr val="4A5568"/>
                </a:solidFill>
                <a:latin typeface="Calibri"/>
                <a:ea typeface="Calibri"/>
              </a:rPr>
              <a:t>podpisy</a:t>
            </a:r>
            <a:r>
              <a:rPr lang="en-US" sz="1200" b="0" strike="noStrike" spc="-1" dirty="0">
                <a:solidFill>
                  <a:srgbClr val="4A5568"/>
                </a:solidFill>
                <a:latin typeface="Calibri"/>
                <a:ea typeface="Calibri"/>
              </a:rPr>
              <a:t> RSA (</a:t>
            </a:r>
            <a:r>
              <a:rPr lang="en-US" sz="1200" b="0" strike="noStrike" spc="-1" dirty="0" err="1">
                <a:solidFill>
                  <a:srgbClr val="4A5568"/>
                </a:solidFill>
                <a:latin typeface="Calibri"/>
                <a:ea typeface="Calibri"/>
              </a:rPr>
              <a:t>Chaum</a:t>
            </a:r>
            <a:r>
              <a:rPr lang="en-US" sz="1200" b="0" strike="noStrike" spc="-1" dirty="0">
                <a:solidFill>
                  <a:srgbClr val="4A5568"/>
                </a:solidFill>
                <a:latin typeface="Calibri"/>
                <a:ea typeface="Calibri"/>
              </a:rPr>
              <a:t> 1983)</a:t>
            </a:r>
            <a:endParaRPr lang="en-US" sz="1200" b="0" strike="noStrike" spc="-1" dirty="0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4A5568"/>
              </a:buClr>
              <a:buFont typeface="Symbol" charset="2"/>
              <a:buChar char=""/>
            </a:pPr>
            <a:r>
              <a:rPr lang="en-US" sz="1200" b="0" strike="noStrike" spc="-1" dirty="0" err="1">
                <a:solidFill>
                  <a:srgbClr val="4A5568"/>
                </a:solidFill>
                <a:latin typeface="Calibri"/>
                <a:ea typeface="Calibri"/>
              </a:rPr>
              <a:t>Nieświadoma</a:t>
            </a:r>
            <a:r>
              <a:rPr lang="en-US" sz="1200" b="0" strike="noStrike" spc="-1" dirty="0">
                <a:solidFill>
                  <a:srgbClr val="4A5568"/>
                </a:solidFill>
                <a:latin typeface="Calibri"/>
                <a:ea typeface="Calibri"/>
              </a:rPr>
              <a:t> </a:t>
            </a:r>
            <a:r>
              <a:rPr lang="en-US" sz="1200" b="0" strike="noStrike" spc="-1" dirty="0" err="1">
                <a:solidFill>
                  <a:srgbClr val="4A5568"/>
                </a:solidFill>
                <a:latin typeface="Calibri"/>
                <a:ea typeface="Calibri"/>
              </a:rPr>
              <a:t>Funkcja</a:t>
            </a:r>
            <a:r>
              <a:rPr lang="en-US" sz="1200" b="0" strike="noStrike" spc="-1" dirty="0">
                <a:solidFill>
                  <a:srgbClr val="4A5568"/>
                </a:solidFill>
                <a:latin typeface="Calibri"/>
                <a:ea typeface="Calibri"/>
              </a:rPr>
              <a:t> </a:t>
            </a:r>
            <a:r>
              <a:rPr lang="en-US" sz="1200" spc="-1" dirty="0" err="1">
                <a:solidFill>
                  <a:srgbClr val="4A5568"/>
                </a:solidFill>
                <a:latin typeface="Calibri"/>
                <a:ea typeface="Calibri"/>
              </a:rPr>
              <a:t>Pseudolosowa</a:t>
            </a:r>
            <a:r>
              <a:rPr lang="en-US" sz="1200" b="0" strike="noStrike" spc="-1" dirty="0">
                <a:solidFill>
                  <a:srgbClr val="4A5568"/>
                </a:solidFill>
                <a:latin typeface="Calibri"/>
                <a:ea typeface="Calibri"/>
              </a:rPr>
              <a:t> (OPRF)</a:t>
            </a:r>
            <a:endParaRPr lang="en-US" sz="1200" b="0" strike="noStrike" spc="-1" dirty="0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4A5568"/>
              </a:buClr>
              <a:buFont typeface="Symbol" charset="2"/>
              <a:buChar char=""/>
            </a:pPr>
            <a:r>
              <a:rPr lang="en-US" sz="1200" b="0" strike="noStrike" spc="-1" dirty="0" err="1">
                <a:solidFill>
                  <a:srgbClr val="4A5568"/>
                </a:solidFill>
                <a:latin typeface="Calibri"/>
                <a:ea typeface="Calibri"/>
              </a:rPr>
              <a:t>Generowanie</a:t>
            </a:r>
            <a:r>
              <a:rPr lang="en-US" sz="1200" b="0" strike="noStrike" spc="-1" dirty="0">
                <a:solidFill>
                  <a:srgbClr val="4A5568"/>
                </a:solidFill>
                <a:latin typeface="Calibri"/>
                <a:ea typeface="Calibri"/>
              </a:rPr>
              <a:t> </a:t>
            </a:r>
            <a:r>
              <a:rPr lang="en-US" sz="1200" b="0" strike="noStrike" spc="-1" dirty="0" err="1">
                <a:solidFill>
                  <a:srgbClr val="4A5568"/>
                </a:solidFill>
                <a:latin typeface="Calibri"/>
                <a:ea typeface="Calibri"/>
              </a:rPr>
              <a:t>liczb</a:t>
            </a:r>
            <a:r>
              <a:rPr lang="en-US" sz="1200" b="0" strike="noStrike" spc="-1" dirty="0">
                <a:solidFill>
                  <a:srgbClr val="4A5568"/>
                </a:solidFill>
                <a:latin typeface="Calibri"/>
                <a:ea typeface="Calibri"/>
              </a:rPr>
              <a:t> </a:t>
            </a:r>
            <a:r>
              <a:rPr lang="en-US" sz="1200" b="0" strike="noStrike" spc="-1" dirty="0" err="1">
                <a:solidFill>
                  <a:srgbClr val="4A5568"/>
                </a:solidFill>
                <a:latin typeface="Calibri"/>
                <a:ea typeface="Calibri"/>
              </a:rPr>
              <a:t>pierwszych</a:t>
            </a:r>
            <a:endParaRPr lang="en-US" sz="1200" b="0" strike="noStrike" spc="-1" dirty="0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4A5568"/>
              </a:buClr>
              <a:buFont typeface="Symbol" charset="2"/>
              <a:buChar char=""/>
            </a:pPr>
            <a:r>
              <a:rPr lang="en-US" sz="1200" b="0" strike="noStrike" spc="-1" dirty="0" err="1">
                <a:solidFill>
                  <a:srgbClr val="4A5568"/>
                </a:solidFill>
                <a:latin typeface="Calibri"/>
                <a:ea typeface="Calibri"/>
              </a:rPr>
              <a:t>Pełna</a:t>
            </a:r>
            <a:r>
              <a:rPr lang="en-US" sz="1200" b="0" strike="noStrike" spc="-1" dirty="0">
                <a:solidFill>
                  <a:srgbClr val="4A5568"/>
                </a:solidFill>
                <a:latin typeface="Calibri"/>
                <a:ea typeface="Calibri"/>
              </a:rPr>
              <a:t> </a:t>
            </a:r>
            <a:r>
              <a:rPr lang="en-US" sz="1200" b="0" strike="noStrike" spc="-1" dirty="0" err="1">
                <a:solidFill>
                  <a:srgbClr val="4A5568"/>
                </a:solidFill>
                <a:latin typeface="Calibri"/>
                <a:ea typeface="Calibri"/>
              </a:rPr>
              <a:t>symulacja</a:t>
            </a:r>
            <a:r>
              <a:rPr lang="en-US" sz="1200" b="0" strike="noStrike" spc="-1" dirty="0">
                <a:solidFill>
                  <a:srgbClr val="4A5568"/>
                </a:solidFill>
                <a:latin typeface="Calibri"/>
                <a:ea typeface="Calibri"/>
              </a:rPr>
              <a:t> 3 </a:t>
            </a:r>
            <a:r>
              <a:rPr lang="en-US" sz="1200" b="0" strike="noStrike" spc="-1" dirty="0" err="1">
                <a:solidFill>
                  <a:srgbClr val="4A5568"/>
                </a:solidFill>
                <a:latin typeface="Calibri"/>
                <a:ea typeface="Calibri"/>
              </a:rPr>
              <a:t>podmiotów</a:t>
            </a:r>
            <a:endParaRPr lang="en-US" sz="1200" b="0" strike="noStrike" spc="-1" dirty="0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4A5568"/>
              </a:buClr>
              <a:buFont typeface="Symbol" charset="2"/>
              <a:buChar char=""/>
            </a:pPr>
            <a:r>
              <a:rPr lang="en-US" sz="1200" b="0" strike="noStrike" spc="-1" dirty="0">
                <a:solidFill>
                  <a:srgbClr val="4A5568"/>
                </a:solidFill>
                <a:latin typeface="Calibri"/>
                <a:ea typeface="Calibri"/>
              </a:rPr>
              <a:t>Test: </a:t>
            </a:r>
            <a:r>
              <a:rPr lang="en-US" sz="1200" b="0" strike="noStrike" spc="-1" dirty="0" err="1">
                <a:solidFill>
                  <a:srgbClr val="4A5568"/>
                </a:solidFill>
                <a:latin typeface="Calibri"/>
                <a:ea typeface="Calibri"/>
              </a:rPr>
              <a:t>dorosly</a:t>
            </a:r>
            <a:r>
              <a:rPr lang="en-US" sz="1200" b="0" strike="noStrike" spc="-1" dirty="0">
                <a:solidFill>
                  <a:srgbClr val="4A5568"/>
                </a:solidFill>
                <a:latin typeface="Calibri"/>
                <a:ea typeface="Calibri"/>
              </a:rPr>
              <a:t>, </a:t>
            </a:r>
            <a:r>
              <a:rPr lang="en-US" sz="1200" b="0" strike="noStrike" spc="-1" dirty="0" err="1">
                <a:solidFill>
                  <a:srgbClr val="4A5568"/>
                </a:solidFill>
                <a:latin typeface="Calibri"/>
                <a:ea typeface="Calibri"/>
              </a:rPr>
              <a:t>nieletni</a:t>
            </a:r>
            <a:r>
              <a:rPr lang="en-US" sz="1200" b="0" strike="noStrike" spc="-1" dirty="0">
                <a:solidFill>
                  <a:srgbClr val="4A5568"/>
                </a:solidFill>
                <a:latin typeface="Calibri"/>
                <a:ea typeface="Calibri"/>
              </a:rPr>
              <a:t>, </a:t>
            </a:r>
            <a:r>
              <a:rPr lang="en-US" sz="1200" b="0" strike="noStrike" spc="-1" dirty="0" err="1">
                <a:solidFill>
                  <a:srgbClr val="4A5568"/>
                </a:solidFill>
                <a:latin typeface="Calibri"/>
                <a:ea typeface="Calibri"/>
              </a:rPr>
              <a:t>ponowne</a:t>
            </a:r>
            <a:r>
              <a:rPr lang="en-US" sz="1200" b="0" strike="noStrike" spc="-1" dirty="0">
                <a:solidFill>
                  <a:srgbClr val="4A5568"/>
                </a:solidFill>
                <a:latin typeface="Calibri"/>
                <a:ea typeface="Calibri"/>
              </a:rPr>
              <a:t> </a:t>
            </a:r>
            <a:r>
              <a:rPr lang="en-US" sz="1200" b="0" strike="noStrike" spc="-1" dirty="0" err="1">
                <a:solidFill>
                  <a:srgbClr val="4A5568"/>
                </a:solidFill>
                <a:latin typeface="Calibri"/>
                <a:ea typeface="Calibri"/>
              </a:rPr>
              <a:t>użycie</a:t>
            </a:r>
            <a:endParaRPr lang="en-US" sz="12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Shape 7"/>
          <p:cNvSpPr/>
          <p:nvPr/>
        </p:nvSpPr>
        <p:spPr>
          <a:xfrm>
            <a:off x="4754880" y="1371600"/>
            <a:ext cx="3657240" cy="310860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blurRad="1015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Shape 8"/>
          <p:cNvSpPr/>
          <p:nvPr/>
        </p:nvSpPr>
        <p:spPr>
          <a:xfrm>
            <a:off x="4754880" y="1371600"/>
            <a:ext cx="3657240" cy="502560"/>
          </a:xfrm>
          <a:prstGeom prst="rect">
            <a:avLst/>
          </a:prstGeom>
          <a:solidFill>
            <a:srgbClr val="C41E3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 9"/>
          <p:cNvSpPr/>
          <p:nvPr/>
        </p:nvSpPr>
        <p:spPr>
          <a:xfrm>
            <a:off x="4754880" y="1371600"/>
            <a:ext cx="36572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rgbClr val="FFFFFF"/>
                </a:solidFill>
                <a:latin typeface="Calibri"/>
                <a:ea typeface="Calibri"/>
              </a:rPr>
              <a:t>Mockup aplikacji (HTML)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Text 10"/>
          <p:cNvSpPr/>
          <p:nvPr/>
        </p:nvSpPr>
        <p:spPr>
          <a:xfrm>
            <a:off x="4937760" y="2011680"/>
            <a:ext cx="3291480" cy="228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4A5568"/>
              </a:buClr>
              <a:buFont typeface="Symbol" charset="2"/>
              <a:buChar char=""/>
            </a:pPr>
            <a:r>
              <a:rPr lang="en-US" sz="1200" b="0" strike="noStrike" spc="-1">
                <a:solidFill>
                  <a:srgbClr val="4A5568"/>
                </a:solidFill>
                <a:latin typeface="Calibri"/>
                <a:ea typeface="Calibri"/>
              </a:rPr>
              <a:t>Wygląd jak mObywatel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4A5568"/>
              </a:buClr>
              <a:buFont typeface="Symbol" charset="2"/>
              <a:buChar char=""/>
            </a:pPr>
            <a:r>
              <a:rPr lang="en-US" sz="1200" b="0" strike="noStrike" spc="-1">
                <a:solidFill>
                  <a:srgbClr val="4A5568"/>
                </a:solidFill>
                <a:latin typeface="Calibri"/>
                <a:ea typeface="Calibri"/>
              </a:rPr>
              <a:t>Generowanie kodów z timerem 5 min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4A5568"/>
              </a:buClr>
              <a:buFont typeface="Symbol" charset="2"/>
              <a:buChar char=""/>
            </a:pPr>
            <a:r>
              <a:rPr lang="en-US" sz="1200" b="0" strike="noStrike" spc="-1">
                <a:solidFill>
                  <a:srgbClr val="4A5568"/>
                </a:solidFill>
                <a:latin typeface="Calibri"/>
                <a:ea typeface="Calibri"/>
              </a:rPr>
              <a:t>7 kroków kryptografii z analogiami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4A5568"/>
              </a:buClr>
              <a:buFont typeface="Symbol" charset="2"/>
              <a:buChar char=""/>
            </a:pPr>
            <a:r>
              <a:rPr lang="en-US" sz="1200" b="0" strike="noStrike" spc="-1">
                <a:solidFill>
                  <a:srgbClr val="4A5568"/>
                </a:solidFill>
                <a:latin typeface="Calibri"/>
                <a:ea typeface="Calibri"/>
              </a:rPr>
              <a:t>Okno strony 18+ do weryfikacji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4A5568"/>
              </a:buClr>
              <a:buFont typeface="Symbol" charset="2"/>
              <a:buChar char=""/>
            </a:pPr>
            <a:r>
              <a:rPr lang="en-US" sz="1200" b="0" strike="noStrike" spc="-1">
                <a:solidFill>
                  <a:srgbClr val="4A5568"/>
                </a:solidFill>
                <a:latin typeface="Calibri"/>
                <a:ea typeface="Calibri"/>
              </a:rPr>
              <a:t>Jednorazowe spalanie kodów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4A5568"/>
              </a:buClr>
              <a:buFont typeface="Symbol" charset="2"/>
              <a:buChar char=""/>
            </a:pPr>
            <a:r>
              <a:rPr lang="en-US" sz="1200" b="0" strike="noStrike" spc="-1">
                <a:solidFill>
                  <a:srgbClr val="4A5568"/>
                </a:solidFill>
                <a:latin typeface="Calibri"/>
                <a:ea typeface="Calibri"/>
              </a:rPr>
              <a:t>Pełna interakcja w przeglądarce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2E2F8-247E-27BC-7E07-FB5AF06D6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Shape 0">
            <a:extLst>
              <a:ext uri="{FF2B5EF4-FFF2-40B4-BE49-F238E27FC236}">
                <a16:creationId xmlns:a16="http://schemas.microsoft.com/office/drawing/2014/main" id="{D4CDD2B8-A856-FD04-77AE-874B4665866C}"/>
              </a:ext>
            </a:extLst>
          </p:cNvPr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C41E3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720" rIns="90000" bIns="972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 1">
            <a:extLst>
              <a:ext uri="{FF2B5EF4-FFF2-40B4-BE49-F238E27FC236}">
                <a16:creationId xmlns:a16="http://schemas.microsoft.com/office/drawing/2014/main" id="{D0E5F830-A855-46A5-65D0-7BA0EF4326A6}"/>
              </a:ext>
            </a:extLst>
          </p:cNvPr>
          <p:cNvSpPr/>
          <p:nvPr/>
        </p:nvSpPr>
        <p:spPr>
          <a:xfrm>
            <a:off x="731520" y="274320"/>
            <a:ext cx="76806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strike="noStrike" spc="-1">
                <a:solidFill>
                  <a:srgbClr val="1A2744"/>
                </a:solidFill>
                <a:latin typeface="Arial Black"/>
                <a:ea typeface="Arial Black"/>
              </a:rPr>
              <a:t>Proof of Concept</a:t>
            </a:r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 2">
            <a:extLst>
              <a:ext uri="{FF2B5EF4-FFF2-40B4-BE49-F238E27FC236}">
                <a16:creationId xmlns:a16="http://schemas.microsoft.com/office/drawing/2014/main" id="{461DC6DF-74A0-FCD0-A21F-584FDA89A9D0}"/>
              </a:ext>
            </a:extLst>
          </p:cNvPr>
          <p:cNvSpPr/>
          <p:nvPr/>
        </p:nvSpPr>
        <p:spPr>
          <a:xfrm>
            <a:off x="731520" y="822960"/>
            <a:ext cx="76806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strike="noStrike" spc="-1" dirty="0" err="1">
                <a:solidFill>
                  <a:srgbClr val="8892A0"/>
                </a:solidFill>
                <a:latin typeface="Calibri"/>
                <a:ea typeface="Calibri"/>
              </a:rPr>
              <a:t>Działający</a:t>
            </a:r>
            <a:r>
              <a:rPr lang="en-US" sz="1400" b="0" i="1" strike="noStrike" spc="-1" dirty="0">
                <a:solidFill>
                  <a:srgbClr val="8892A0"/>
                </a:solidFill>
                <a:latin typeface="Calibri"/>
                <a:ea typeface="Calibri"/>
              </a:rPr>
              <a:t> </a:t>
            </a:r>
            <a:r>
              <a:rPr lang="en-US" sz="1400" b="0" i="1" strike="noStrike" spc="-1" dirty="0" err="1">
                <a:solidFill>
                  <a:srgbClr val="8892A0"/>
                </a:solidFill>
                <a:latin typeface="Calibri"/>
                <a:ea typeface="Calibri"/>
              </a:rPr>
              <a:t>kod</a:t>
            </a:r>
            <a:r>
              <a:rPr lang="en-US" sz="1400" b="0" i="1" strike="noStrike" spc="-1" dirty="0">
                <a:solidFill>
                  <a:srgbClr val="8892A0"/>
                </a:solidFill>
                <a:latin typeface="Calibri"/>
                <a:ea typeface="Calibri"/>
              </a:rPr>
              <a:t> + </a:t>
            </a:r>
            <a:r>
              <a:rPr lang="en-US" sz="1400" b="0" i="1" strike="noStrike" spc="-1" dirty="0" err="1">
                <a:solidFill>
                  <a:srgbClr val="8892A0"/>
                </a:solidFill>
                <a:latin typeface="Calibri"/>
                <a:ea typeface="Calibri"/>
              </a:rPr>
              <a:t>interaktywny</a:t>
            </a:r>
            <a:r>
              <a:rPr lang="en-US" sz="1400" b="0" i="1" strike="noStrike" spc="-1" dirty="0">
                <a:solidFill>
                  <a:srgbClr val="8892A0"/>
                </a:solidFill>
                <a:latin typeface="Calibri"/>
                <a:ea typeface="Calibri"/>
              </a:rPr>
              <a:t> mockup </a:t>
            </a:r>
            <a:r>
              <a:rPr lang="en-US" sz="1400" b="0" i="1" strike="noStrike" spc="-1" dirty="0" err="1">
                <a:solidFill>
                  <a:srgbClr val="8892A0"/>
                </a:solidFill>
                <a:latin typeface="Calibri"/>
                <a:ea typeface="Calibri"/>
              </a:rPr>
              <a:t>aplikacji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48EC984-B7CE-B312-AFEC-75D0E7BA81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2966" y="1351461"/>
            <a:ext cx="1618647" cy="333145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AED89E0-612D-18AF-8D43-4230FF61FE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5398" y="385539"/>
            <a:ext cx="2851837" cy="4372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21118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Shape 0"/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C41E3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720" rIns="90000" bIns="972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" name="Text 1"/>
          <p:cNvSpPr/>
          <p:nvPr/>
        </p:nvSpPr>
        <p:spPr>
          <a:xfrm>
            <a:off x="731520" y="557280"/>
            <a:ext cx="7680600" cy="109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strike="noStrike" spc="-1">
                <a:solidFill>
                  <a:srgbClr val="FFFFFF"/>
                </a:solidFill>
                <a:latin typeface="Arial Black"/>
                <a:ea typeface="Arial Black"/>
              </a:rPr>
              <a:t>Dziękujemy!</a:t>
            </a:r>
            <a:endParaRPr lang="en-US" sz="4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" name="Text 2"/>
          <p:cNvSpPr/>
          <p:nvPr/>
        </p:nvSpPr>
        <p:spPr>
          <a:xfrm>
            <a:off x="731520" y="1693440"/>
            <a:ext cx="76806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strike="noStrike" spc="-1">
                <a:solidFill>
                  <a:srgbClr val="8892A0"/>
                </a:solidFill>
                <a:latin typeface="Calibri"/>
                <a:ea typeface="Calibri"/>
              </a:rPr>
              <a:t>Kod źródłowy + interaktywne demo:</a:t>
            </a:r>
            <a:endParaRPr lang="en-US" sz="16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" name="Shape 3"/>
          <p:cNvSpPr/>
          <p:nvPr/>
        </p:nvSpPr>
        <p:spPr>
          <a:xfrm>
            <a:off x="1828800" y="2514600"/>
            <a:ext cx="5486040" cy="1600200"/>
          </a:xfrm>
          <a:prstGeom prst="rect">
            <a:avLst/>
          </a:prstGeom>
          <a:solidFill>
            <a:srgbClr val="24355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" name="Text 4">
            <a:hlinkClick r:id="rId3"/>
          </p:cNvPr>
          <p:cNvSpPr/>
          <p:nvPr/>
        </p:nvSpPr>
        <p:spPr>
          <a:xfrm>
            <a:off x="1828800" y="2926080"/>
            <a:ext cx="54860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sng" strike="noStrike" spc="-1" dirty="0">
                <a:solidFill>
                  <a:srgbClr val="C41E3A"/>
                </a:solidFill>
                <a:uFillTx/>
                <a:latin typeface="Consolas"/>
                <a:ea typeface="Consolas"/>
                <a:hlinkClick r:id="rId3"/>
              </a:rPr>
              <a:t>github.com/Inner-Savages/BKIHack2026</a:t>
            </a:r>
            <a:endParaRPr lang="en-US" sz="1600" b="0" strike="noStrike" spc="-1" dirty="0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600" b="0" strike="noStrike" spc="-1" dirty="0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sng" strike="noStrike" spc="-1" dirty="0">
                <a:solidFill>
                  <a:srgbClr val="C41E3A"/>
                </a:solidFill>
                <a:uFillTx/>
                <a:latin typeface="Consolas"/>
                <a:ea typeface="Consolas"/>
                <a:hlinkClick r:id="rId4"/>
              </a:rPr>
              <a:t>https://mobywatel-bkihack.netlify.app/</a:t>
            </a:r>
            <a:endParaRPr lang="en-US" sz="1600" b="0" strike="noStrike" spc="-1" dirty="0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600" b="0" strike="noStrike" spc="-1" dirty="0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sng" strike="noStrike" spc="-1" dirty="0">
                <a:solidFill>
                  <a:srgbClr val="C41E3A"/>
                </a:solidFill>
                <a:uFillTx/>
                <a:latin typeface="Consolas"/>
                <a:ea typeface="Consolas"/>
              </a:rPr>
              <a:t>https://secured-</a:t>
            </a:r>
            <a:r>
              <a:rPr lang="en-US" sz="1600" b="1" u="sng" strike="noStrike" spc="-1" dirty="0" err="1">
                <a:solidFill>
                  <a:srgbClr val="C41E3A"/>
                </a:solidFill>
                <a:uFillTx/>
                <a:latin typeface="Consolas"/>
                <a:ea typeface="Consolas"/>
              </a:rPr>
              <a:t>bkihack.netlify.app</a:t>
            </a:r>
            <a:r>
              <a:rPr lang="en-US" sz="1600" b="1" u="sng" strike="noStrike" spc="-1" dirty="0">
                <a:solidFill>
                  <a:srgbClr val="C41E3A"/>
                </a:solidFill>
                <a:uFillTx/>
                <a:latin typeface="Consolas"/>
                <a:ea typeface="Consolas"/>
              </a:rPr>
              <a:t>/</a:t>
            </a:r>
            <a:endParaRPr lang="en-US" sz="16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Text 5"/>
          <p:cNvSpPr/>
          <p:nvPr/>
        </p:nvSpPr>
        <p:spPr>
          <a:xfrm>
            <a:off x="731520" y="4114800"/>
            <a:ext cx="76806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rgbClr val="8892A0"/>
                </a:solidFill>
                <a:latin typeface="Calibri"/>
                <a:ea typeface="Calibri"/>
              </a:rPr>
              <a:t>BKIHack 2026  |  Inner Savages</a:t>
            </a:r>
            <a:endParaRPr lang="en-US" sz="14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Shape 0"/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C41E3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720" rIns="90000" bIns="972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" name="Text 1"/>
          <p:cNvSpPr/>
          <p:nvPr/>
        </p:nvSpPr>
        <p:spPr>
          <a:xfrm>
            <a:off x="731520" y="274320"/>
            <a:ext cx="768060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strike="noStrike" spc="-1">
                <a:solidFill>
                  <a:srgbClr val="FFFFFF"/>
                </a:solidFill>
                <a:latin typeface="Arial Black"/>
                <a:ea typeface="Arial Black"/>
              </a:rPr>
              <a:t>Podsumowanie</a:t>
            </a:r>
            <a:endParaRPr lang="en-US" sz="3600" b="0" strike="noStrike" spc="-1">
              <a:solidFill>
                <a:srgbClr val="FFFFFF"/>
              </a:solidFill>
              <a:latin typeface="Arial"/>
            </a:endParaRPr>
          </a:p>
        </p:txBody>
      </p:sp>
      <p:graphicFrame>
        <p:nvGraphicFramePr>
          <p:cNvPr id="148" name="Table 0"/>
          <p:cNvGraphicFramePr/>
          <p:nvPr>
            <p:extLst>
              <p:ext uri="{D42A27DB-BD31-4B8C-83A1-F6EECF244321}">
                <p14:modId xmlns:p14="http://schemas.microsoft.com/office/powerpoint/2010/main" val="38611730"/>
              </p:ext>
            </p:extLst>
          </p:nvPr>
        </p:nvGraphicFramePr>
        <p:xfrm>
          <a:off x="731520" y="1188720"/>
          <a:ext cx="7680960" cy="233028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strike="noStrike" spc="-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Warstwa</a:t>
                      </a:r>
                      <a:endParaRPr lang="en-US" sz="1200" b="0" strike="noStrike" spc="-1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243556"/>
                      </a:solidFill>
                      <a:prstDash val="solid"/>
                    </a:lnL>
                    <a:lnR w="6480">
                      <a:solidFill>
                        <a:srgbClr val="243556"/>
                      </a:solidFill>
                      <a:prstDash val="solid"/>
                    </a:lnR>
                    <a:lnT w="6480">
                      <a:solidFill>
                        <a:srgbClr val="243556"/>
                      </a:solidFill>
                      <a:prstDash val="solid"/>
                    </a:lnT>
                    <a:lnB w="6480">
                      <a:solidFill>
                        <a:srgbClr val="243556"/>
                      </a:solidFill>
                      <a:prstDash val="solid"/>
                    </a:lnB>
                    <a:solidFill>
                      <a:srgbClr val="C41E3A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strike="noStrike" spc="-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Co gwarantuje</a:t>
                      </a:r>
                      <a:endParaRPr lang="en-US" sz="1200" b="0" strike="noStrike" spc="-1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243556"/>
                      </a:solidFill>
                      <a:prstDash val="solid"/>
                    </a:lnL>
                    <a:lnR w="6480">
                      <a:solidFill>
                        <a:srgbClr val="243556"/>
                      </a:solidFill>
                      <a:prstDash val="solid"/>
                    </a:lnR>
                    <a:lnT w="6480">
                      <a:solidFill>
                        <a:srgbClr val="243556"/>
                      </a:solidFill>
                      <a:prstDash val="solid"/>
                    </a:lnT>
                    <a:lnB w="6480">
                      <a:solidFill>
                        <a:srgbClr val="243556"/>
                      </a:solidFill>
                      <a:prstDash val="solid"/>
                    </a:lnB>
                    <a:solidFill>
                      <a:srgbClr val="C41E3A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strike="noStrike" spc="-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Typ</a:t>
                      </a:r>
                      <a:endParaRPr lang="en-US" sz="1200" b="0" strike="noStrike" spc="-1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>
                    <a:lnL w="6480">
                      <a:solidFill>
                        <a:srgbClr val="243556"/>
                      </a:solidFill>
                      <a:prstDash val="solid"/>
                    </a:lnL>
                    <a:lnR w="6480">
                      <a:solidFill>
                        <a:srgbClr val="243556"/>
                      </a:solidFill>
                      <a:prstDash val="solid"/>
                    </a:lnR>
                    <a:lnT w="6480">
                      <a:solidFill>
                        <a:srgbClr val="243556"/>
                      </a:solidFill>
                      <a:prstDash val="solid"/>
                    </a:lnT>
                    <a:lnB w="6480">
                      <a:solidFill>
                        <a:srgbClr val="243556"/>
                      </a:solidFill>
                      <a:prstDash val="solid"/>
                    </a:lnB>
                    <a:solidFill>
                      <a:srgbClr val="C41E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37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strike="noStrike" spc="-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Separacja prawna</a:t>
                      </a:r>
                      <a:endParaRPr lang="en-US" sz="1200" b="0" strike="noStrike" spc="-1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243556"/>
                      </a:solidFill>
                      <a:prstDash val="solid"/>
                    </a:lnL>
                    <a:lnR w="6480">
                      <a:solidFill>
                        <a:srgbClr val="243556"/>
                      </a:solidFill>
                      <a:prstDash val="solid"/>
                    </a:lnR>
                    <a:lnT w="6480">
                      <a:solidFill>
                        <a:srgbClr val="243556"/>
                      </a:solidFill>
                      <a:prstDash val="solid"/>
                    </a:lnT>
                    <a:lnB w="6480">
                      <a:solidFill>
                        <a:srgbClr val="243556"/>
                      </a:solidFill>
                      <a:prstDash val="solid"/>
                    </a:lnB>
                    <a:solidFill>
                      <a:srgbClr val="243556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strike="noStrike" spc="-1">
                          <a:solidFill>
                            <a:srgbClr val="8892A0"/>
                          </a:solidFill>
                          <a:latin typeface="Calibri"/>
                          <a:ea typeface="Calibri"/>
                        </a:rPr>
                        <a:t>Wymiana danych = przestępstwo</a:t>
                      </a:r>
                      <a:endParaRPr lang="en-US" sz="1100" b="0" strike="noStrike" spc="-1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243556"/>
                      </a:solidFill>
                      <a:prstDash val="solid"/>
                    </a:lnL>
                    <a:lnR w="6480">
                      <a:solidFill>
                        <a:srgbClr val="243556"/>
                      </a:solidFill>
                      <a:prstDash val="solid"/>
                    </a:lnR>
                    <a:lnT w="6480">
                      <a:solidFill>
                        <a:srgbClr val="243556"/>
                      </a:solidFill>
                      <a:prstDash val="solid"/>
                    </a:lnT>
                    <a:lnB w="6480">
                      <a:solidFill>
                        <a:srgbClr val="243556"/>
                      </a:solidFill>
                      <a:prstDash val="solid"/>
                    </a:lnB>
                    <a:solidFill>
                      <a:srgbClr val="243556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strike="noStrike" spc="-1">
                          <a:solidFill>
                            <a:srgbClr val="2E7D32"/>
                          </a:solidFill>
                          <a:latin typeface="Calibri"/>
                          <a:ea typeface="Calibri"/>
                        </a:rPr>
                        <a:t>Prawna</a:t>
                      </a:r>
                      <a:endParaRPr lang="en-US" sz="1100" b="0" strike="noStrike" spc="-1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243556"/>
                      </a:solidFill>
                      <a:prstDash val="solid"/>
                    </a:lnL>
                    <a:lnR w="6480">
                      <a:solidFill>
                        <a:srgbClr val="243556"/>
                      </a:solidFill>
                      <a:prstDash val="solid"/>
                    </a:lnR>
                    <a:lnT w="6480">
                      <a:solidFill>
                        <a:srgbClr val="243556"/>
                      </a:solidFill>
                      <a:prstDash val="solid"/>
                    </a:lnT>
                    <a:lnB w="6480">
                      <a:solidFill>
                        <a:srgbClr val="243556"/>
                      </a:solidFill>
                      <a:prstDash val="solid"/>
                    </a:lnB>
                    <a:solidFill>
                      <a:srgbClr val="2435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37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strike="noStrike" spc="-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Ślepe podpisy RSA</a:t>
                      </a:r>
                      <a:endParaRPr lang="en-US" sz="1200" b="0" strike="noStrike" spc="-1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243556"/>
                      </a:solidFill>
                      <a:prstDash val="solid"/>
                    </a:lnL>
                    <a:lnR w="6480">
                      <a:solidFill>
                        <a:srgbClr val="243556"/>
                      </a:solidFill>
                      <a:prstDash val="solid"/>
                    </a:lnR>
                    <a:lnT w="6480">
                      <a:solidFill>
                        <a:srgbClr val="243556"/>
                      </a:solidFill>
                      <a:prstDash val="solid"/>
                    </a:lnT>
                    <a:lnB w="6480">
                      <a:solidFill>
                        <a:srgbClr val="243556"/>
                      </a:solidFill>
                      <a:prstDash val="soli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strike="noStrike" spc="-1" dirty="0">
                          <a:solidFill>
                            <a:srgbClr val="8892A0"/>
                          </a:solidFill>
                          <a:latin typeface="Calibri"/>
                          <a:ea typeface="Calibri"/>
                        </a:rPr>
                        <a:t>Nie da </a:t>
                      </a:r>
                      <a:r>
                        <a:rPr lang="en-US" sz="1100" b="0" strike="noStrike" spc="-1" dirty="0" err="1">
                          <a:solidFill>
                            <a:srgbClr val="8892A0"/>
                          </a:solidFill>
                          <a:latin typeface="Calibri"/>
                          <a:ea typeface="Calibri"/>
                        </a:rPr>
                        <a:t>się</a:t>
                      </a:r>
                      <a:r>
                        <a:rPr lang="en-US" sz="1100" b="0" strike="noStrike" spc="-1" dirty="0">
                          <a:solidFill>
                            <a:srgbClr val="8892A0"/>
                          </a:solidFill>
                          <a:latin typeface="Calibri"/>
                          <a:ea typeface="Calibri"/>
                        </a:rPr>
                        <a:t> </a:t>
                      </a:r>
                      <a:r>
                        <a:rPr lang="en-US" sz="1100" b="0" strike="noStrike" spc="-1" dirty="0" err="1">
                          <a:solidFill>
                            <a:srgbClr val="8892A0"/>
                          </a:solidFill>
                          <a:latin typeface="Calibri"/>
                          <a:ea typeface="Calibri"/>
                        </a:rPr>
                        <a:t>powiązać</a:t>
                      </a:r>
                      <a:r>
                        <a:rPr lang="en-US" sz="1100" b="0" strike="noStrike" spc="-1" dirty="0">
                          <a:solidFill>
                            <a:srgbClr val="8892A0"/>
                          </a:solidFill>
                          <a:latin typeface="Calibri"/>
                          <a:ea typeface="Calibri"/>
                        </a:rPr>
                        <a:t> </a:t>
                      </a:r>
                      <a:r>
                        <a:rPr lang="en-US" sz="1100" b="0" strike="noStrike" spc="-1" dirty="0" err="1">
                          <a:solidFill>
                            <a:srgbClr val="8892A0"/>
                          </a:solidFill>
                          <a:latin typeface="Calibri"/>
                          <a:ea typeface="Calibri"/>
                        </a:rPr>
                        <a:t>tokenów</a:t>
                      </a:r>
                      <a:endParaRPr lang="en-US" sz="1100" b="0" strike="noStrike" spc="-1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243556"/>
                      </a:solidFill>
                      <a:prstDash val="solid"/>
                    </a:lnL>
                    <a:lnR w="6480">
                      <a:solidFill>
                        <a:srgbClr val="243556"/>
                      </a:solidFill>
                      <a:prstDash val="solid"/>
                    </a:lnR>
                    <a:lnT w="6480">
                      <a:solidFill>
                        <a:srgbClr val="243556"/>
                      </a:solidFill>
                      <a:prstDash val="solid"/>
                    </a:lnT>
                    <a:lnB w="6480">
                      <a:solidFill>
                        <a:srgbClr val="243556"/>
                      </a:solidFill>
                      <a:prstDash val="soli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strike="noStrike" spc="-1">
                          <a:solidFill>
                            <a:srgbClr val="2968A8"/>
                          </a:solidFill>
                          <a:latin typeface="Calibri"/>
                          <a:ea typeface="Calibri"/>
                        </a:rPr>
                        <a:t>Matematyczna</a:t>
                      </a:r>
                      <a:endParaRPr lang="en-US" sz="1100" b="0" strike="noStrike" spc="-1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243556"/>
                      </a:solidFill>
                      <a:prstDash val="solid"/>
                    </a:lnL>
                    <a:lnR w="6480">
                      <a:solidFill>
                        <a:srgbClr val="243556"/>
                      </a:solidFill>
                      <a:prstDash val="solid"/>
                    </a:lnR>
                    <a:lnT w="6480">
                      <a:solidFill>
                        <a:srgbClr val="243556"/>
                      </a:solidFill>
                      <a:prstDash val="solid"/>
                    </a:lnT>
                    <a:lnB w="6480">
                      <a:solidFill>
                        <a:srgbClr val="243556"/>
                      </a:solidFill>
                      <a:prstDash val="solid"/>
                    </a:lnB>
                    <a:solidFill>
                      <a:srgbClr val="1A27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37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strike="noStrike" spc="-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OPRF</a:t>
                      </a:r>
                      <a:endParaRPr lang="en-US" sz="1200" b="0" strike="noStrike" spc="-1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243556"/>
                      </a:solidFill>
                      <a:prstDash val="solid"/>
                    </a:lnL>
                    <a:lnR w="6480">
                      <a:solidFill>
                        <a:srgbClr val="243556"/>
                      </a:solidFill>
                      <a:prstDash val="solid"/>
                    </a:lnR>
                    <a:lnT w="6480">
                      <a:solidFill>
                        <a:srgbClr val="243556"/>
                      </a:solidFill>
                      <a:prstDash val="solid"/>
                    </a:lnT>
                    <a:lnB w="6480">
                      <a:solidFill>
                        <a:srgbClr val="243556"/>
                      </a:solidFill>
                      <a:prstDash val="solid"/>
                    </a:lnB>
                    <a:solidFill>
                      <a:srgbClr val="243556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strike="noStrike" spc="-1">
                          <a:solidFill>
                            <a:srgbClr val="8892A0"/>
                          </a:solidFill>
                          <a:latin typeface="Calibri"/>
                          <a:ea typeface="Calibri"/>
                        </a:rPr>
                        <a:t>Serwer nie widzi danych</a:t>
                      </a:r>
                      <a:endParaRPr lang="en-US" sz="1100" b="0" strike="noStrike" spc="-1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243556"/>
                      </a:solidFill>
                      <a:prstDash val="solid"/>
                    </a:lnL>
                    <a:lnR w="6480">
                      <a:solidFill>
                        <a:srgbClr val="243556"/>
                      </a:solidFill>
                      <a:prstDash val="solid"/>
                    </a:lnR>
                    <a:lnT w="6480">
                      <a:solidFill>
                        <a:srgbClr val="243556"/>
                      </a:solidFill>
                      <a:prstDash val="solid"/>
                    </a:lnT>
                    <a:lnB w="6480">
                      <a:solidFill>
                        <a:srgbClr val="243556"/>
                      </a:solidFill>
                      <a:prstDash val="solid"/>
                    </a:lnB>
                    <a:solidFill>
                      <a:srgbClr val="243556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strike="noStrike" spc="-1">
                          <a:solidFill>
                            <a:srgbClr val="2968A8"/>
                          </a:solidFill>
                          <a:latin typeface="Calibri"/>
                          <a:ea typeface="Calibri"/>
                        </a:rPr>
                        <a:t>Matematyczna</a:t>
                      </a:r>
                      <a:endParaRPr lang="en-US" sz="1100" b="0" strike="noStrike" spc="-1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243556"/>
                      </a:solidFill>
                      <a:prstDash val="solid"/>
                    </a:lnL>
                    <a:lnR w="6480">
                      <a:solidFill>
                        <a:srgbClr val="243556"/>
                      </a:solidFill>
                      <a:prstDash val="solid"/>
                    </a:lnR>
                    <a:lnT w="6480">
                      <a:solidFill>
                        <a:srgbClr val="243556"/>
                      </a:solidFill>
                      <a:prstDash val="solid"/>
                    </a:lnT>
                    <a:lnB w="6480">
                      <a:solidFill>
                        <a:srgbClr val="243556"/>
                      </a:solidFill>
                      <a:prstDash val="solid"/>
                    </a:lnB>
                    <a:solidFill>
                      <a:srgbClr val="2435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37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strike="noStrike" spc="-1" dirty="0" err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Enklawy</a:t>
                      </a:r>
                      <a:r>
                        <a:rPr lang="en-US" sz="1200" b="0" strike="noStrike" spc="-1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 TEE</a:t>
                      </a:r>
                      <a:endParaRPr lang="en-US" sz="1200" b="0" strike="noStrike" spc="-1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243556"/>
                      </a:solidFill>
                      <a:prstDash val="solid"/>
                    </a:lnL>
                    <a:lnR w="6480">
                      <a:solidFill>
                        <a:srgbClr val="243556"/>
                      </a:solidFill>
                      <a:prstDash val="solid"/>
                    </a:lnR>
                    <a:lnT w="6480">
                      <a:solidFill>
                        <a:srgbClr val="243556"/>
                      </a:solidFill>
                      <a:prstDash val="solid"/>
                    </a:lnT>
                    <a:lnB w="6480">
                      <a:solidFill>
                        <a:srgbClr val="243556"/>
                      </a:solidFill>
                      <a:prstDash val="soli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strike="noStrike" spc="-1">
                          <a:solidFill>
                            <a:srgbClr val="8892A0"/>
                          </a:solidFill>
                          <a:latin typeface="Calibri"/>
                          <a:ea typeface="Calibri"/>
                        </a:rPr>
                        <a:t>Kod robi to co deklaruje</a:t>
                      </a:r>
                      <a:endParaRPr lang="en-US" sz="1100" b="0" strike="noStrike" spc="-1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243556"/>
                      </a:solidFill>
                      <a:prstDash val="solid"/>
                    </a:lnL>
                    <a:lnR w="6480">
                      <a:solidFill>
                        <a:srgbClr val="243556"/>
                      </a:solidFill>
                      <a:prstDash val="solid"/>
                    </a:lnR>
                    <a:lnT w="6480">
                      <a:solidFill>
                        <a:srgbClr val="243556"/>
                      </a:solidFill>
                      <a:prstDash val="solid"/>
                    </a:lnT>
                    <a:lnB w="6480">
                      <a:solidFill>
                        <a:srgbClr val="243556"/>
                      </a:solidFill>
                      <a:prstDash val="soli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strike="noStrike" spc="-1">
                          <a:solidFill>
                            <a:srgbClr val="F9A825"/>
                          </a:solidFill>
                          <a:latin typeface="Calibri"/>
                          <a:ea typeface="Calibri"/>
                        </a:rPr>
                        <a:t>Sprzętowa</a:t>
                      </a:r>
                      <a:endParaRPr lang="en-US" sz="1100" b="0" strike="noStrike" spc="-1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243556"/>
                      </a:solidFill>
                      <a:prstDash val="solid"/>
                    </a:lnL>
                    <a:lnR w="6480">
                      <a:solidFill>
                        <a:srgbClr val="243556"/>
                      </a:solidFill>
                      <a:prstDash val="solid"/>
                    </a:lnR>
                    <a:lnT w="6480">
                      <a:solidFill>
                        <a:srgbClr val="243556"/>
                      </a:solidFill>
                      <a:prstDash val="solid"/>
                    </a:lnT>
                    <a:lnB w="6480">
                      <a:solidFill>
                        <a:srgbClr val="243556"/>
                      </a:solidFill>
                      <a:prstDash val="solid"/>
                    </a:lnB>
                    <a:solidFill>
                      <a:srgbClr val="1A27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37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strike="noStrike" spc="-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Open-source</a:t>
                      </a:r>
                      <a:endParaRPr lang="en-US" sz="1200" b="0" strike="noStrike" spc="-1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243556"/>
                      </a:solidFill>
                      <a:prstDash val="solid"/>
                    </a:lnL>
                    <a:lnR w="6480">
                      <a:solidFill>
                        <a:srgbClr val="243556"/>
                      </a:solidFill>
                      <a:prstDash val="solid"/>
                    </a:lnR>
                    <a:lnT w="6480">
                      <a:solidFill>
                        <a:srgbClr val="243556"/>
                      </a:solidFill>
                      <a:prstDash val="solid"/>
                    </a:lnT>
                    <a:lnB w="6480">
                      <a:solidFill>
                        <a:srgbClr val="243556"/>
                      </a:solidFill>
                      <a:prstDash val="solid"/>
                    </a:lnB>
                    <a:solidFill>
                      <a:srgbClr val="243556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strike="noStrike" spc="-1" dirty="0">
                          <a:solidFill>
                            <a:srgbClr val="8892A0"/>
                          </a:solidFill>
                          <a:latin typeface="Calibri"/>
                          <a:ea typeface="Calibri"/>
                        </a:rPr>
                        <a:t>Brak </a:t>
                      </a:r>
                      <a:r>
                        <a:rPr lang="en-US" sz="1100" b="0" strike="noStrike" spc="-1" dirty="0" err="1">
                          <a:solidFill>
                            <a:srgbClr val="8892A0"/>
                          </a:solidFill>
                          <a:latin typeface="Calibri"/>
                          <a:ea typeface="Calibri"/>
                        </a:rPr>
                        <a:t>ukrytych</a:t>
                      </a:r>
                      <a:r>
                        <a:rPr lang="en-US" sz="1100" b="0" strike="noStrike" spc="-1" dirty="0">
                          <a:solidFill>
                            <a:srgbClr val="8892A0"/>
                          </a:solidFill>
                          <a:latin typeface="Calibri"/>
                          <a:ea typeface="Calibri"/>
                        </a:rPr>
                        <a:t> </a:t>
                      </a:r>
                      <a:r>
                        <a:rPr lang="en-US" sz="1100" b="0" strike="noStrike" spc="-1" dirty="0" err="1">
                          <a:solidFill>
                            <a:srgbClr val="8892A0"/>
                          </a:solidFill>
                          <a:latin typeface="Calibri"/>
                          <a:ea typeface="Calibri"/>
                        </a:rPr>
                        <a:t>backdoorow</a:t>
                      </a:r>
                      <a:endParaRPr lang="en-US" sz="1100" b="0" strike="noStrike" spc="-1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243556"/>
                      </a:solidFill>
                      <a:prstDash val="solid"/>
                    </a:lnL>
                    <a:lnR w="6480">
                      <a:solidFill>
                        <a:srgbClr val="243556"/>
                      </a:solidFill>
                      <a:prstDash val="solid"/>
                    </a:lnR>
                    <a:lnT w="6480">
                      <a:solidFill>
                        <a:srgbClr val="243556"/>
                      </a:solidFill>
                      <a:prstDash val="solid"/>
                    </a:lnT>
                    <a:lnB w="6480">
                      <a:solidFill>
                        <a:srgbClr val="243556"/>
                      </a:solidFill>
                      <a:prstDash val="solid"/>
                    </a:lnB>
                    <a:solidFill>
                      <a:srgbClr val="243556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strike="noStrike" spc="-1" dirty="0" err="1">
                          <a:solidFill>
                            <a:srgbClr val="8892A0"/>
                          </a:solidFill>
                          <a:latin typeface="Calibri"/>
                          <a:ea typeface="Calibri"/>
                        </a:rPr>
                        <a:t>Społeczna</a:t>
                      </a:r>
                      <a:endParaRPr lang="en-US" sz="1100" b="0" strike="noStrike" spc="-1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243556"/>
                      </a:solidFill>
                      <a:prstDash val="solid"/>
                    </a:lnL>
                    <a:lnR w="6480">
                      <a:solidFill>
                        <a:srgbClr val="243556"/>
                      </a:solidFill>
                      <a:prstDash val="solid"/>
                    </a:lnR>
                    <a:lnT w="6480">
                      <a:solidFill>
                        <a:srgbClr val="243556"/>
                      </a:solidFill>
                      <a:prstDash val="solid"/>
                    </a:lnT>
                    <a:lnB w="6480">
                      <a:solidFill>
                        <a:srgbClr val="243556"/>
                      </a:solidFill>
                      <a:prstDash val="solid"/>
                    </a:lnB>
                    <a:solidFill>
                      <a:srgbClr val="2435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49" name="Shape 2"/>
          <p:cNvSpPr/>
          <p:nvPr/>
        </p:nvSpPr>
        <p:spPr>
          <a:xfrm>
            <a:off x="731520" y="3749040"/>
            <a:ext cx="7680600" cy="1005480"/>
          </a:xfrm>
          <a:prstGeom prst="rect">
            <a:avLst/>
          </a:prstGeom>
          <a:solidFill>
            <a:srgbClr val="2E7D32"/>
          </a:solidFill>
          <a:ln w="0">
            <a:noFill/>
          </a:ln>
          <a:effectLst>
            <a:outerShdw blurRad="1015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" name="Text 3"/>
          <p:cNvSpPr/>
          <p:nvPr/>
        </p:nvSpPr>
        <p:spPr>
          <a:xfrm>
            <a:off x="914400" y="3794760"/>
            <a:ext cx="731484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rgbClr val="FFFFFF"/>
                </a:solidFill>
                <a:latin typeface="Calibri"/>
                <a:ea typeface="Calibri"/>
              </a:rPr>
              <a:t>Żeby deanonimizowac użytkownika, trzeba jednocześnie:</a:t>
            </a:r>
            <a:endParaRPr lang="en-US" sz="1400" b="0" strike="noStrike" spc="-1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rgbClr val="FFFFFF"/>
                </a:solidFill>
                <a:latin typeface="Calibri"/>
                <a:ea typeface="Calibri"/>
              </a:rPr>
              <a:t>złamać matematykę OPRF + zhackować enklawę sprzętową</a:t>
            </a:r>
            <a:endParaRPr lang="en-US" sz="1400" b="0" strike="noStrike" spc="-1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rgbClr val="FFFFFF"/>
                </a:solidFill>
                <a:latin typeface="Calibri"/>
                <a:ea typeface="Calibri"/>
              </a:rPr>
              <a:t>+ obejść audyt open-source + złamać prawo</a:t>
            </a:r>
            <a:endParaRPr lang="en-US" sz="14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</TotalTime>
  <Words>661</Words>
  <Application>Microsoft Macintosh PowerPoint</Application>
  <PresentationFormat>On-screen Show (16:9)</PresentationFormat>
  <Paragraphs>143</Paragraphs>
  <Slides>11</Slides>
  <Notes>11</Notes>
  <HiddenSlides>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9" baseType="lpstr">
      <vt:lpstr>Arial</vt:lpstr>
      <vt:lpstr>Arial Black</vt:lpstr>
      <vt:lpstr>Calibri</vt:lpstr>
      <vt:lpstr>Consolas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Anonimowa Weryfikacja Wieku</dc:title>
  <dc:subject>PptxGenJS Presentation</dc:subject>
  <dc:creator>Inner Savages</dc:creator>
  <dc:description/>
  <cp:lastModifiedBy>Jakub Zięba</cp:lastModifiedBy>
  <cp:revision>14</cp:revision>
  <dcterms:created xsi:type="dcterms:W3CDTF">2026-03-27T21:11:55Z</dcterms:created>
  <dcterms:modified xsi:type="dcterms:W3CDTF">2026-03-28T16:30:27Z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10</vt:i4>
  </property>
  <property fmtid="{D5CDD505-2E9C-101B-9397-08002B2CF9AE}" pid="3" name="PresentationFormat">
    <vt:lpwstr>On-screen Show (16:9)</vt:lpwstr>
  </property>
  <property fmtid="{D5CDD505-2E9C-101B-9397-08002B2CF9AE}" pid="4" name="Slides">
    <vt:i4>10</vt:i4>
  </property>
</Properties>
</file>