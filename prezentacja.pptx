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52" d="100"/>
          <a:sy n="152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E1F3180-906B-4856-922B-D4AAD209783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3F370-7C0A-4212-A0F7-985E8D9469F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5710A4-403D-4BE5-857F-21D0E94356B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6530E5-4F7A-4820-9829-8EFC153AD6F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EB94C-2740-4BAA-9B68-4C223311169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E9EABF-31C4-4958-B0FB-D399396A631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714127-55CA-4A0B-82F6-8A7AA71AC0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0C2D8-CD15-4D91-8263-9883A1DE897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73B3CF-29AD-4A28-9C88-800FF26DB7D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4C3152-DCC1-4C41-8983-B63D60883BA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CC8A0-533B-47B4-A1D0-B45A2996EBC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ner-Savages/BKIHack202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obywatel-bkihack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914400"/>
            <a:ext cx="76806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AgePass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292608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8892A0"/>
                </a:solidFill>
                <a:latin typeface="Calibri"/>
                <a:ea typeface="Calibri"/>
              </a:rPr>
              <a:t>Jak udowodnić stronie internetowej, że masz 18+ lat,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8892A0"/>
                </a:solidFill>
                <a:latin typeface="Calibri"/>
                <a:ea typeface="Calibri"/>
              </a:rPr>
              <a:t>bez ujawniania kim jesteś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4434840"/>
            <a:ext cx="9143640" cy="712800"/>
          </a:xfrm>
          <a:prstGeom prst="rect">
            <a:avLst/>
          </a:prstGeom>
          <a:solidFill>
            <a:srgbClr val="2435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4480560"/>
            <a:ext cx="7680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8892A0"/>
                </a:solidFill>
                <a:latin typeface="Calibri"/>
                <a:ea typeface="Calibri"/>
              </a:rPr>
              <a:t>BKIHack 2026  |  Inner Savages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595360" y="914400"/>
            <a:ext cx="91080" cy="25599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3"/>
          <a:stretch/>
        </p:blipFill>
        <p:spPr>
          <a:xfrm>
            <a:off x="4800600" y="311760"/>
            <a:ext cx="3200400" cy="1745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1A2744"/>
                </a:solidFill>
                <a:latin typeface="Arial Black"/>
                <a:ea typeface="Arial Black"/>
              </a:rPr>
              <a:t>Problem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731520" y="1097280"/>
            <a:ext cx="384012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731520" y="1097280"/>
            <a:ext cx="72720" cy="347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051560" y="12344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A2744"/>
                </a:solidFill>
                <a:latin typeface="Calibri"/>
                <a:ea typeface="Calibri"/>
              </a:rPr>
              <a:t>Obecne rozwiązania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051560" y="178308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Podawanie danych osobowych stronom 18+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Brak realnej weryfikacji (checkboxy)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Wymuszanie logowania przez e-PUAP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Ryzyko profilowania i inwigilacji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4937760" y="1097280"/>
            <a:ext cx="365724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4937760" y="1097280"/>
            <a:ext cx="72720" cy="34743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5257800" y="12344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E7D32"/>
                </a:solidFill>
                <a:latin typeface="Calibri"/>
                <a:ea typeface="Calibri"/>
              </a:rPr>
              <a:t>Czego potrzebujemy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5257800" y="1783080"/>
            <a:ext cx="32000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Weryfikacja wieku BEZ ujawniania tożsamości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Brak możliwości śledzenia użytkownika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Prostota użycia (6-cyfrowy kod)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A5568"/>
                </a:solidFill>
                <a:latin typeface="Calibri"/>
                <a:ea typeface="Calibri"/>
              </a:rPr>
              <a:t>Odporność na zmowę podmiotów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1A2744"/>
                </a:solidFill>
                <a:latin typeface="Arial Black"/>
                <a:ea typeface="Arial Black"/>
              </a:rPr>
              <a:t>Architektura trójstronna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731520" y="86868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892A0"/>
                </a:solidFill>
                <a:latin typeface="Calibri"/>
                <a:ea typeface="Calibri"/>
              </a:rPr>
              <a:t>Trzy podmioty, z których żaden nie wie wszystkiego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457200" y="1417320"/>
            <a:ext cx="255996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457200" y="1417320"/>
            <a:ext cx="2559960" cy="59400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457200" y="14173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Rząd 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45720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mObywatel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640080" y="21488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E7D32"/>
                </a:solidFill>
                <a:latin typeface="Calibri"/>
                <a:ea typeface="Calibri"/>
              </a:rPr>
              <a:t>WIE: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40080" y="23774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Kim jesteś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i ile masz lat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640080" y="32004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C41E3A"/>
                </a:solidFill>
                <a:latin typeface="Calibri"/>
                <a:ea typeface="Calibri"/>
              </a:rPr>
              <a:t>NIE WIE: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640080" y="342900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Jakiego kodu użyjesz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ani na jakiej stronie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3291840" y="1417320"/>
            <a:ext cx="255996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3291840" y="1417320"/>
            <a:ext cx="2559960" cy="594000"/>
          </a:xfrm>
          <a:prstGeom prst="rect">
            <a:avLst/>
          </a:prstGeom>
          <a:solidFill>
            <a:srgbClr val="2968A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3291840" y="14173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Rząd B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329184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NASK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3474720" y="21488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E7D32"/>
                </a:solidFill>
                <a:latin typeface="Calibri"/>
                <a:ea typeface="Calibri"/>
              </a:rPr>
              <a:t>WIE: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3474720" y="23774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ktoś anonimowy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ma 18+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3474720" y="32004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C41E3A"/>
                </a:solidFill>
                <a:latin typeface="Calibri"/>
                <a:ea typeface="Calibri"/>
              </a:rPr>
              <a:t>NIE WIE: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3474720" y="342900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Kim jest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ta osoba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6126480" y="1417320"/>
            <a:ext cx="255996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6126480" y="1417320"/>
            <a:ext cx="2559960" cy="5940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6126480" y="14173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Strona 18+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6126480" y="1764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Odbiorca kodu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6309360" y="21488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E7D32"/>
                </a:solidFill>
                <a:latin typeface="Calibri"/>
                <a:ea typeface="Calibri"/>
              </a:rPr>
              <a:t>WIE: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6309360" y="23774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wpisany kod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jest ważny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6309360" y="32004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C41E3A"/>
                </a:solidFill>
                <a:latin typeface="Calibri"/>
                <a:ea typeface="Calibri"/>
              </a:rPr>
              <a:t>NIE WIE: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6309360" y="342900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Kim jest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użytkownik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31520" y="22860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Jak to działa? 3 proste kroki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731520" y="1051560"/>
            <a:ext cx="7680600" cy="1096920"/>
          </a:xfrm>
          <a:prstGeom prst="rect">
            <a:avLst/>
          </a:prstGeom>
          <a:solidFill>
            <a:srgbClr val="243556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960120" y="1252800"/>
            <a:ext cx="685440" cy="685440"/>
          </a:xfrm>
          <a:prstGeom prst="ellipse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960120" y="12528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FFFFFF"/>
                </a:solidFill>
                <a:latin typeface="Arial Black"/>
                <a:ea typeface="Arial Black"/>
              </a:rPr>
              <a:t>1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920240" y="114300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libri"/>
                <a:ea typeface="Calibri"/>
              </a:rPr>
              <a:t>Weryfikacja wieku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1920240" y="1508760"/>
            <a:ext cx="6217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892A0"/>
                </a:solidFill>
                <a:latin typeface="Calibri"/>
                <a:ea typeface="Calibri"/>
              </a:rPr>
              <a:t>Otwierasz mObywatel. Twój telefon generuje losowy token i chowa go w kryptograficznej kopercie. Rząd A sprawdza Twój wiek i podpisuje kopertę — nie widząc co jest w środku.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731520" y="2331720"/>
            <a:ext cx="7680600" cy="1096920"/>
          </a:xfrm>
          <a:prstGeom prst="rect">
            <a:avLst/>
          </a:prstGeom>
          <a:solidFill>
            <a:srgbClr val="243556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960120" y="2532960"/>
            <a:ext cx="685440" cy="685440"/>
          </a:xfrm>
          <a:prstGeom prst="ellipse">
            <a:avLst/>
          </a:prstGeom>
          <a:solidFill>
            <a:srgbClr val="2968A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960120" y="253296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FFFFFF"/>
                </a:solidFill>
                <a:latin typeface="Arial Black"/>
                <a:ea typeface="Arial Black"/>
              </a:rPr>
              <a:t>2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920240" y="242316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libri"/>
                <a:ea typeface="Calibri"/>
              </a:rPr>
              <a:t>Pobranie kodu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1920240" y="2788920"/>
            <a:ext cx="6217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892A0"/>
                </a:solidFill>
                <a:latin typeface="Calibri"/>
                <a:ea typeface="Calibri"/>
              </a:rPr>
              <a:t>Wysyłasz podpisany token (bez PESELu!) do Rządu B. NASK weryfikuje podpis, generuje jednorazowy 6-cyfrowy kod ważny 5 minut. Nie wie kim jesteś.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731520" y="3611880"/>
            <a:ext cx="7680600" cy="1096920"/>
          </a:xfrm>
          <a:prstGeom prst="rect">
            <a:avLst/>
          </a:prstGeom>
          <a:solidFill>
            <a:srgbClr val="243556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960120" y="3813120"/>
            <a:ext cx="685440" cy="68544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960120" y="38131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FFFFFF"/>
                </a:solidFill>
                <a:latin typeface="Arial Black"/>
                <a:ea typeface="Arial Black"/>
              </a:rPr>
              <a:t>3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1920240" y="370332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libri"/>
                <a:ea typeface="Calibri"/>
              </a:rPr>
              <a:t>Wejście na stronę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1920240" y="4069080"/>
            <a:ext cx="6217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892A0"/>
                </a:solidFill>
                <a:latin typeface="Calibri"/>
                <a:ea typeface="Calibri"/>
              </a:rPr>
              <a:t>Wpisujesz kod na stronie 18+. Strona pyta Rząd B: ważny? Odpowiedź: TAK. Kod spalony. Strona nie zna Twojej tożsamości.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A2744"/>
                </a:solidFill>
                <a:latin typeface="Arial Black"/>
                <a:ea typeface="Arial Black"/>
              </a:rPr>
              <a:t>Analogia z </a:t>
            </a:r>
            <a:r>
              <a:rPr lang="en-US" sz="3000" b="1" strike="noStrike" spc="-1" dirty="0" err="1">
                <a:solidFill>
                  <a:srgbClr val="1A2744"/>
                </a:solidFill>
                <a:latin typeface="Arial Black"/>
                <a:ea typeface="Arial Black"/>
              </a:rPr>
              <a:t>kopertą</a:t>
            </a:r>
            <a:r>
              <a:rPr lang="en-US" sz="3000" b="1" strike="noStrike" spc="-1" dirty="0">
                <a:solidFill>
                  <a:srgbClr val="1A2744"/>
                </a:solidFill>
                <a:latin typeface="Arial Black"/>
                <a:ea typeface="Arial Black"/>
              </a:rPr>
              <a:t> </a:t>
            </a:r>
            <a:r>
              <a:rPr lang="en-US" sz="3000" b="1" strike="noStrike" spc="-1" dirty="0" err="1">
                <a:solidFill>
                  <a:srgbClr val="1A2744"/>
                </a:solidFill>
                <a:latin typeface="Arial Black"/>
                <a:ea typeface="Arial Black"/>
              </a:rPr>
              <a:t>i</a:t>
            </a:r>
            <a:r>
              <a:rPr lang="en-US" sz="3000" b="1" strike="noStrike" spc="-1" dirty="0">
                <a:solidFill>
                  <a:srgbClr val="1A2744"/>
                </a:solidFill>
                <a:latin typeface="Arial Black"/>
                <a:ea typeface="Arial Black"/>
              </a:rPr>
              <a:t> </a:t>
            </a:r>
            <a:r>
              <a:rPr lang="en-US" sz="3000" b="1" strike="noStrike" spc="-1" dirty="0" err="1">
                <a:solidFill>
                  <a:srgbClr val="1A2744"/>
                </a:solidFill>
                <a:latin typeface="Arial Black"/>
                <a:ea typeface="Arial Black"/>
              </a:rPr>
              <a:t>kalką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731520" y="1097280"/>
            <a:ext cx="768060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731520" y="1097280"/>
            <a:ext cx="91080" cy="3474360"/>
          </a:xfrm>
          <a:prstGeom prst="rect">
            <a:avLst/>
          </a:prstGeom>
          <a:solidFill>
            <a:srgbClr val="F9A82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1097280" y="1325880"/>
            <a:ext cx="365400" cy="365400"/>
          </a:xfrm>
          <a:prstGeom prst="ellipse">
            <a:avLst/>
          </a:prstGeom>
          <a:solidFill>
            <a:srgbClr val="1A27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1097280" y="13258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1645920" y="1257300"/>
            <a:ext cx="6491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Piszesz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tajny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numer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na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kartce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1097280" y="1947600"/>
            <a:ext cx="365400" cy="365400"/>
          </a:xfrm>
          <a:prstGeom prst="ellipse">
            <a:avLst/>
          </a:prstGeom>
          <a:solidFill>
            <a:srgbClr val="1A27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1097280" y="1947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1645920" y="1879020"/>
            <a:ext cx="6491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Wkładasz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kartkę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do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nieprzezroczystej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koperty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z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kalką</a:t>
            </a:r>
            <a:r>
              <a:rPr lang="en-US" sz="1300" b="0" strike="noStrike" spc="-1" dirty="0">
                <a:solidFill>
                  <a:srgbClr val="4A5568"/>
                </a:solidFill>
                <a:latin typeface="Calibri"/>
                <a:ea typeface="Calibri"/>
              </a:rPr>
              <a:t> w </a:t>
            </a:r>
            <a:r>
              <a:rPr lang="en-US" sz="1300" b="0" strike="noStrike" spc="-1" dirty="0" err="1">
                <a:solidFill>
                  <a:srgbClr val="4A5568"/>
                </a:solidFill>
                <a:latin typeface="Calibri"/>
                <a:ea typeface="Calibri"/>
              </a:rPr>
              <a:t>środku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1097280" y="2569320"/>
            <a:ext cx="365400" cy="365400"/>
          </a:xfrm>
          <a:prstGeom prst="ellipse">
            <a:avLst/>
          </a:prstGeom>
          <a:solidFill>
            <a:srgbClr val="1A27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1097280" y="2569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1645920" y="2510641"/>
            <a:ext cx="6491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Urzędnik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(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Rząd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A)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sprawdza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Twój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dowód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,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podpisuje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kopertę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—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podpis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przechodzi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przez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kalkę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na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kartkę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, ale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urzędnik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nie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widzi</a:t>
            </a:r>
            <a:r>
              <a:rPr lang="en-US" sz="1300" b="0" strike="noStrike" spc="-1" dirty="0">
                <a:solidFill>
                  <a:srgbClr val="C41E3A"/>
                </a:solidFill>
                <a:latin typeface="Calibri"/>
                <a:ea typeface="Calibri"/>
              </a:rPr>
              <a:t> co jest w </a:t>
            </a:r>
            <a:r>
              <a:rPr lang="en-US" sz="1300" b="0" strike="noStrike" spc="-1" dirty="0" err="1">
                <a:solidFill>
                  <a:srgbClr val="C41E3A"/>
                </a:solidFill>
                <a:latin typeface="Calibri"/>
                <a:ea typeface="Calibri"/>
              </a:rPr>
              <a:t>środku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1097280" y="3191400"/>
            <a:ext cx="365400" cy="365400"/>
          </a:xfrm>
          <a:prstGeom prst="ellipse">
            <a:avLst/>
          </a:prstGeom>
          <a:solidFill>
            <a:srgbClr val="1A27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1097280" y="31914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1645920" y="3120679"/>
            <a:ext cx="6491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Otwierasz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kopertę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—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masz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kartkę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z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Twoim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numerem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i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podpisem</a:t>
            </a:r>
            <a:r>
              <a:rPr lang="en-US" sz="1300" b="0" strike="noStrike" spc="-1" dirty="0">
                <a:solidFill>
                  <a:srgbClr val="2E7D32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E7D32"/>
                </a:solidFill>
                <a:latin typeface="Calibri"/>
                <a:ea typeface="Calibri"/>
              </a:rPr>
              <a:t>urzędnika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1097280" y="3813120"/>
            <a:ext cx="365400" cy="365400"/>
          </a:xfrm>
          <a:prstGeom prst="ellipse">
            <a:avLst/>
          </a:prstGeom>
          <a:solidFill>
            <a:srgbClr val="1A27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1097280" y="3813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1645920" y="3777441"/>
            <a:ext cx="6491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Idziesz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do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drugiego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okienka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(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Rząd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B),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pokazujesz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kartkę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.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Drugie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okienko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widzi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ważny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podpis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,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wydaje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kod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— ale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nie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wie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kto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stał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w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pierwszym</a:t>
            </a:r>
            <a:r>
              <a:rPr lang="en-US" sz="1300" b="0" strike="noStrike" spc="-1" dirty="0">
                <a:solidFill>
                  <a:srgbClr val="2968A8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dirty="0" err="1">
                <a:solidFill>
                  <a:srgbClr val="2968A8"/>
                </a:solidFill>
                <a:latin typeface="Calibri"/>
                <a:ea typeface="Calibri"/>
              </a:rPr>
              <a:t>okienku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731520" y="228600"/>
            <a:ext cx="76806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1A2744"/>
                </a:solidFill>
                <a:latin typeface="Arial Black"/>
                <a:ea typeface="Arial Black"/>
              </a:rPr>
              <a:t>4 warstwy ochrony prywatności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731520" y="77724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8892A0"/>
                </a:solidFill>
                <a:latin typeface="Calibri"/>
                <a:ea typeface="Calibri"/>
              </a:rPr>
              <a:t>Nawet jeśli jedno zabezpieczenie zawiedzie, pozostałe trzymają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731520" y="1234440"/>
            <a:ext cx="768060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731520" y="1234440"/>
            <a:ext cx="72720" cy="7768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005840" y="1389960"/>
            <a:ext cx="456840" cy="456840"/>
          </a:xfrm>
          <a:prstGeom prst="ellipse">
            <a:avLst/>
          </a:prstGeom>
          <a:solidFill>
            <a:srgbClr val="E8F5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005840" y="1389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E7D32"/>
                </a:solidFill>
                <a:latin typeface="Calibri"/>
                <a:ea typeface="Calibri"/>
              </a:rPr>
              <a:t>1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1645920" y="13075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A2744"/>
                </a:solidFill>
                <a:latin typeface="Calibri"/>
                <a:ea typeface="Calibri"/>
              </a:rPr>
              <a:t>Separacja prawna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1645920" y="16185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A5568"/>
                </a:solidFill>
                <a:latin typeface="Calibri"/>
                <a:ea typeface="Calibri"/>
              </a:rPr>
              <a:t>Dwa resorty + ustawowy zakaz wymiany danych. Zmowa = przestępstwo.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6766560" y="1463040"/>
            <a:ext cx="1462680" cy="31968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6766560" y="1463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2E7D32"/>
                </a:solidFill>
                <a:latin typeface="Calibri"/>
                <a:ea typeface="Calibri"/>
              </a:rPr>
              <a:t>PRAWNA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731520" y="2148840"/>
            <a:ext cx="768060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731520" y="2148840"/>
            <a:ext cx="72720" cy="776880"/>
          </a:xfrm>
          <a:prstGeom prst="rect">
            <a:avLst/>
          </a:prstGeom>
          <a:solidFill>
            <a:srgbClr val="2968A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1005840" y="2304360"/>
            <a:ext cx="456840" cy="456840"/>
          </a:xfrm>
          <a:prstGeom prst="ellipse">
            <a:avLst/>
          </a:prstGeom>
          <a:solidFill>
            <a:srgbClr val="E3F2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1005840" y="2304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968A8"/>
                </a:solidFill>
                <a:latin typeface="Calibri"/>
                <a:ea typeface="Calibri"/>
              </a:rPr>
              <a:t>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1645920" y="22219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A2744"/>
                </a:solidFill>
                <a:latin typeface="Calibri"/>
                <a:ea typeface="Calibri"/>
              </a:rPr>
              <a:t>Ślepe podpisy RSA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1645920" y="25329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A5568"/>
                </a:solidFill>
                <a:latin typeface="Calibri"/>
                <a:ea typeface="Calibri"/>
              </a:rPr>
              <a:t>Zaślepiony token =/= odślepiony token. Matematycznie niepowiązalne.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6766560" y="2377440"/>
            <a:ext cx="1462680" cy="31968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6766560" y="23774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2968A8"/>
                </a:solidFill>
                <a:latin typeface="Calibri"/>
                <a:ea typeface="Calibri"/>
              </a:rPr>
              <a:t>MATEMATYCZNA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731520" y="3063240"/>
            <a:ext cx="768060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0"/>
          <p:cNvSpPr/>
          <p:nvPr/>
        </p:nvSpPr>
        <p:spPr>
          <a:xfrm>
            <a:off x="731520" y="3063240"/>
            <a:ext cx="72720" cy="776880"/>
          </a:xfrm>
          <a:prstGeom prst="rect">
            <a:avLst/>
          </a:prstGeom>
          <a:solidFill>
            <a:srgbClr val="2968A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1005840" y="3218760"/>
            <a:ext cx="456840" cy="456840"/>
          </a:xfrm>
          <a:prstGeom prst="ellipse">
            <a:avLst/>
          </a:prstGeom>
          <a:solidFill>
            <a:srgbClr val="FFF8E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1005840" y="3218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968A8"/>
                </a:solidFill>
                <a:latin typeface="Calibri"/>
                <a:ea typeface="Calibri"/>
              </a:rPr>
              <a:t>3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1645920" y="31363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A2744"/>
                </a:solidFill>
                <a:latin typeface="Calibri"/>
                <a:ea typeface="Calibri"/>
              </a:rPr>
              <a:t>OPRF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1645920" y="34473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A5568"/>
                </a:solidFill>
                <a:latin typeface="Calibri"/>
                <a:ea typeface="Calibri"/>
              </a:rPr>
              <a:t>Serwer przetwarza dane, ktorych nigdy nie widział. Nawet logi sa bezużyteczne.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5"/>
          <p:cNvSpPr/>
          <p:nvPr/>
        </p:nvSpPr>
        <p:spPr>
          <a:xfrm>
            <a:off x="6766560" y="3291840"/>
            <a:ext cx="1462680" cy="319680"/>
          </a:xfrm>
          <a:prstGeom prst="rect">
            <a:avLst/>
          </a:prstGeom>
          <a:solidFill>
            <a:srgbClr val="FFF8E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6766560" y="32918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2968A8"/>
                </a:solidFill>
                <a:latin typeface="Calibri"/>
                <a:ea typeface="Calibri"/>
              </a:rPr>
              <a:t>MATEMATYCZNA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7"/>
          <p:cNvSpPr/>
          <p:nvPr/>
        </p:nvSpPr>
        <p:spPr>
          <a:xfrm>
            <a:off x="731520" y="3977640"/>
            <a:ext cx="7680600" cy="77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8"/>
          <p:cNvSpPr/>
          <p:nvPr/>
        </p:nvSpPr>
        <p:spPr>
          <a:xfrm>
            <a:off x="731520" y="3977640"/>
            <a:ext cx="72720" cy="77688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9"/>
          <p:cNvSpPr/>
          <p:nvPr/>
        </p:nvSpPr>
        <p:spPr>
          <a:xfrm>
            <a:off x="1005840" y="4133160"/>
            <a:ext cx="456840" cy="456840"/>
          </a:xfrm>
          <a:prstGeom prst="ellipse">
            <a:avLst/>
          </a:prstGeom>
          <a:solidFill>
            <a:srgbClr val="FCE4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0"/>
          <p:cNvSpPr/>
          <p:nvPr/>
        </p:nvSpPr>
        <p:spPr>
          <a:xfrm>
            <a:off x="1005840" y="4133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C41E3A"/>
                </a:solidFill>
                <a:latin typeface="Calibri"/>
                <a:ea typeface="Calibri"/>
              </a:rPr>
              <a:t>4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1"/>
          <p:cNvSpPr/>
          <p:nvPr/>
        </p:nvSpPr>
        <p:spPr>
          <a:xfrm>
            <a:off x="1645920" y="40507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A2744"/>
                </a:solidFill>
                <a:latin typeface="Calibri"/>
                <a:ea typeface="Calibri"/>
              </a:rPr>
              <a:t>Enklawy TEE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2"/>
          <p:cNvSpPr/>
          <p:nvPr/>
        </p:nvSpPr>
        <p:spPr>
          <a:xfrm>
            <a:off x="1645920" y="43617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A5568"/>
                </a:solidFill>
                <a:latin typeface="Calibri"/>
                <a:ea typeface="Calibri"/>
              </a:rPr>
              <a:t>Intel SGX / ARM TrustZone. Kod open-source. Nawet admin serwera nie widzi danych.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3"/>
          <p:cNvSpPr/>
          <p:nvPr/>
        </p:nvSpPr>
        <p:spPr>
          <a:xfrm>
            <a:off x="6766560" y="4206240"/>
            <a:ext cx="1462680" cy="319680"/>
          </a:xfrm>
          <a:prstGeom prst="rect">
            <a:avLst/>
          </a:prstGeom>
          <a:solidFill>
            <a:srgbClr val="FCE4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6766560" y="42062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C41E3A"/>
                </a:solidFill>
                <a:latin typeface="Calibri"/>
                <a:ea typeface="Calibri"/>
              </a:rPr>
              <a:t>SPRZĘTOWA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Co jesli Rząd A i B zmowią się?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731520" y="1188720"/>
            <a:ext cx="3657240" cy="1828440"/>
          </a:xfrm>
          <a:prstGeom prst="rect">
            <a:avLst/>
          </a:prstGeom>
          <a:solidFill>
            <a:srgbClr val="243556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731520" y="1188720"/>
            <a:ext cx="3657240" cy="45684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731520" y="11887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  <a:ea typeface="Calibri"/>
              </a:rPr>
              <a:t>Rząd A ma: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914400" y="178308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8892A0"/>
                </a:solidFill>
                <a:latin typeface="Calibri"/>
                <a:ea typeface="Calibri"/>
              </a:rPr>
              <a:t>PESEL + zaślepiony token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8892A0"/>
                </a:solidFill>
                <a:latin typeface="Calibri"/>
                <a:ea typeface="Calibri"/>
              </a:rPr>
              <a:t>(losowy szum)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4754880" y="1188720"/>
            <a:ext cx="3657240" cy="1828440"/>
          </a:xfrm>
          <a:prstGeom prst="rect">
            <a:avLst/>
          </a:prstGeom>
          <a:solidFill>
            <a:srgbClr val="243556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4754880" y="1188720"/>
            <a:ext cx="3657240" cy="456840"/>
          </a:xfrm>
          <a:prstGeom prst="rect">
            <a:avLst/>
          </a:prstGeom>
          <a:solidFill>
            <a:srgbClr val="2968A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4754880" y="11887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  <a:ea typeface="Calibri"/>
              </a:rPr>
              <a:t>Rząd B ma: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4937760" y="178308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8892A0"/>
                </a:solidFill>
                <a:latin typeface="Calibri"/>
                <a:ea typeface="Calibri"/>
              </a:rPr>
              <a:t>Odślepiony token + kod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8892A0"/>
                </a:solidFill>
                <a:latin typeface="Calibri"/>
                <a:ea typeface="Calibri"/>
              </a:rPr>
              <a:t>(bez tożsamości)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1371600" y="3383280"/>
            <a:ext cx="6400440" cy="1371240"/>
          </a:xfrm>
          <a:prstGeom prst="rect">
            <a:avLst/>
          </a:prstGeom>
          <a:solidFill>
            <a:srgbClr val="2E7D32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1554480" y="3474720"/>
            <a:ext cx="60346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Zaślepiony token  =/=  Odślepiony token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To jest sedno ślepego podpisu! Nawet mając OBA dzienniki,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NIE DA SIE powiązać wpisów Rządu A z wpisami Rządu B.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731520" y="2743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A2744"/>
                </a:solidFill>
                <a:latin typeface="Arial Black"/>
                <a:ea typeface="Arial Black"/>
              </a:rPr>
              <a:t>Proof of Concept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731520" y="82296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892A0"/>
                </a:solidFill>
                <a:latin typeface="Calibri"/>
                <a:ea typeface="Calibri"/>
              </a:rPr>
              <a:t>Działający kod + interaktywny mockup aplikacji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731520" y="1371600"/>
            <a:ext cx="365724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731520" y="1371600"/>
            <a:ext cx="3657240" cy="5025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731520" y="13716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Kod kryptograficzny (Python)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14400" y="2011680"/>
            <a:ext cx="329148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Ślepe podpisy RSA (Chaum 1983)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Nieświadoma Funkcja PRF (OPRF)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Generowanie liczb pierwszych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Pełna symulacja 3 podmiotów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Test: dorosly, nieletni, ponowne użycie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Zero zewnętrznych bibliotek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4754880" y="1371600"/>
            <a:ext cx="365724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4754880" y="1371600"/>
            <a:ext cx="3657240" cy="5025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4754880" y="137160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Mockup aplikacji (HTML)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4937760" y="2011680"/>
            <a:ext cx="329148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Wygląd jak mObywatel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Generowanie kodów z timerem 5 min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7 kroków kryptografii z analogiami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Okno strony 18+ do weryfikacji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Jednorazowe spalanie kodów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A5568"/>
                </a:solidFill>
                <a:latin typeface="Calibri"/>
                <a:ea typeface="Calibri"/>
              </a:rPr>
              <a:t>Pełna interakcja w przeglądarce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731520" y="27432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Podsumowanie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48" name="Table 0"/>
          <p:cNvGraphicFramePr/>
          <p:nvPr>
            <p:extLst>
              <p:ext uri="{D42A27DB-BD31-4B8C-83A1-F6EECF244321}">
                <p14:modId xmlns:p14="http://schemas.microsoft.com/office/powerpoint/2010/main" val="38611730"/>
              </p:ext>
            </p:extLst>
          </p:nvPr>
        </p:nvGraphicFramePr>
        <p:xfrm>
          <a:off x="731520" y="1188720"/>
          <a:ext cx="7680960" cy="2330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Warstwa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 gwarantuje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Typ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C4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Separacja prawna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Wymiana danych = przestępstwo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2E7D32"/>
                          </a:solidFill>
                          <a:latin typeface="Calibri"/>
                          <a:ea typeface="Calibri"/>
                        </a:rPr>
                        <a:t>Prawna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Ślepe podpisy RSA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Nie da </a:t>
                      </a:r>
                      <a:r>
                        <a:rPr lang="en-US" sz="1100" b="0" strike="noStrike" spc="-1" dirty="0" err="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się</a:t>
                      </a:r>
                      <a:r>
                        <a:rPr lang="en-US" sz="1100" b="0" strike="noStrike" spc="-1" dirty="0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 </a:t>
                      </a:r>
                      <a:r>
                        <a:rPr lang="en-US" sz="1100" b="0" strike="noStrike" spc="-1" dirty="0" err="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powiązać</a:t>
                      </a:r>
                      <a:r>
                        <a:rPr lang="en-US" sz="1100" b="0" strike="noStrike" spc="-1" dirty="0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 </a:t>
                      </a:r>
                      <a:r>
                        <a:rPr lang="en-US" sz="1100" b="0" strike="noStrike" spc="-1" dirty="0" err="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tokenów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2968A8"/>
                          </a:solidFill>
                          <a:latin typeface="Calibri"/>
                          <a:ea typeface="Calibri"/>
                        </a:rPr>
                        <a:t>Matematyczna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OPRF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Serwer nie widzi danych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2968A8"/>
                          </a:solidFill>
                          <a:latin typeface="Calibri"/>
                          <a:ea typeface="Calibri"/>
                        </a:rPr>
                        <a:t>Matematyczna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Enklawy</a:t>
                      </a:r>
                      <a:r>
                        <a:rPr lang="en-US" sz="1200" b="0" strike="noStrike" spc="-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 TEE</a:t>
                      </a:r>
                      <a:endParaRPr lang="en-US" sz="12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Kod robi to co deklaruje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9A825"/>
                          </a:solidFill>
                          <a:latin typeface="Calibri"/>
                          <a:ea typeface="Calibri"/>
                        </a:rPr>
                        <a:t>Sprzętowa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Open-source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 dirty="0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Brak </a:t>
                      </a:r>
                      <a:r>
                        <a:rPr lang="en-US" sz="1100" b="0" strike="noStrike" spc="-1" dirty="0" err="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ukrytych</a:t>
                      </a:r>
                      <a:r>
                        <a:rPr lang="en-US" sz="1100" b="0" strike="noStrike" spc="-1" dirty="0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 </a:t>
                      </a:r>
                      <a:r>
                        <a:rPr lang="en-US" sz="1100" b="0" strike="noStrike" spc="-1" dirty="0" err="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backdoorow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 dirty="0" err="1">
                          <a:solidFill>
                            <a:srgbClr val="8892A0"/>
                          </a:solidFill>
                          <a:latin typeface="Calibri"/>
                          <a:ea typeface="Calibri"/>
                        </a:rPr>
                        <a:t>Społeczna</a:t>
                      </a:r>
                      <a:endParaRPr lang="en-US" sz="1100" b="0" strike="noStrike" spc="-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6480">
                      <a:solidFill>
                        <a:srgbClr val="243556"/>
                      </a:solidFill>
                      <a:prstDash val="solid"/>
                    </a:lnL>
                    <a:lnR w="6480">
                      <a:solidFill>
                        <a:srgbClr val="243556"/>
                      </a:solidFill>
                      <a:prstDash val="solid"/>
                    </a:lnR>
                    <a:lnT w="6480">
                      <a:solidFill>
                        <a:srgbClr val="243556"/>
                      </a:solidFill>
                      <a:prstDash val="solid"/>
                    </a:lnT>
                    <a:lnB w="6480">
                      <a:solidFill>
                        <a:srgbClr val="243556"/>
                      </a:solidFill>
                      <a:prstDash val="solid"/>
                    </a:lnB>
                    <a:solidFill>
                      <a:srgbClr val="2435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9" name="Shape 2"/>
          <p:cNvSpPr/>
          <p:nvPr/>
        </p:nvSpPr>
        <p:spPr>
          <a:xfrm>
            <a:off x="731520" y="3749040"/>
            <a:ext cx="7680600" cy="1005480"/>
          </a:xfrm>
          <a:prstGeom prst="rect">
            <a:avLst/>
          </a:prstGeom>
          <a:solidFill>
            <a:srgbClr val="2E7D32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914400" y="379476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Żeby deanonimizowac użytkownika, trzeba jednocześnie: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złamać matematykę OPRF + zhackować enklawę sprzętową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+ obejść audyt open-source + złamać prawo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C41E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731520" y="557280"/>
            <a:ext cx="7680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Dziękujemy!</a:t>
            </a:r>
            <a:endParaRPr lang="en-US" sz="4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731520" y="169344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892A0"/>
                </a:solidFill>
                <a:latin typeface="Calibri"/>
                <a:ea typeface="Calibri"/>
              </a:rPr>
              <a:t>Kod źródłowy + interaktywne demo: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1828800" y="2514600"/>
            <a:ext cx="5486040" cy="1600200"/>
          </a:xfrm>
          <a:prstGeom prst="rect">
            <a:avLst/>
          </a:prstGeom>
          <a:solidFill>
            <a:srgbClr val="2435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4">
            <a:hlinkClick r:id="rId3"/>
          </p:cNvPr>
          <p:cNvSpPr/>
          <p:nvPr/>
        </p:nvSpPr>
        <p:spPr>
          <a:xfrm>
            <a:off x="1828800" y="2926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sng" strike="noStrike" spc="-1">
                <a:solidFill>
                  <a:srgbClr val="C41E3A"/>
                </a:solidFill>
                <a:uFillTx/>
                <a:latin typeface="Consolas"/>
                <a:ea typeface="Consolas"/>
                <a:hlinkClick r:id="rId3"/>
              </a:rPr>
              <a:t>github.com/Inner-Savages/BKIHack2026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sng" strike="noStrike" spc="-1">
                <a:solidFill>
                  <a:srgbClr val="C41E3A"/>
                </a:solidFill>
                <a:uFillTx/>
                <a:latin typeface="Consolas"/>
                <a:ea typeface="Consolas"/>
                <a:hlinkClick r:id="rId4"/>
              </a:rPr>
              <a:t>https://mobywatel-bkihack.netlify.app/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sng" strike="noStrike" spc="-1">
                <a:solidFill>
                  <a:srgbClr val="C41E3A"/>
                </a:solidFill>
                <a:uFillTx/>
                <a:latin typeface="Consolas"/>
                <a:ea typeface="Consolas"/>
              </a:rPr>
              <a:t>https://secured-bkihack.netlify.app/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731520" y="411480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8892A0"/>
                </a:solidFill>
                <a:latin typeface="Calibri"/>
                <a:ea typeface="Calibri"/>
              </a:rPr>
              <a:t>BKIHack 2026  |  Inner Savages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647</Words>
  <Application>Microsoft Macintosh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Anonimowa Weryfikacja Wieku</dc:title>
  <dc:subject>PptxGenJS Presentation</dc:subject>
  <dc:creator>Inner Savages</dc:creator>
  <dc:description/>
  <cp:lastModifiedBy>Jakub Zięba</cp:lastModifiedBy>
  <cp:revision>5</cp:revision>
  <dcterms:created xsi:type="dcterms:W3CDTF">2026-03-27T21:11:55Z</dcterms:created>
  <dcterms:modified xsi:type="dcterms:W3CDTF">2026-03-28T16:16:39Z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